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40"/>
  </p:normalViewPr>
  <p:slideViewPr>
    <p:cSldViewPr snapToGrid="0">
      <p:cViewPr varScale="1">
        <p:scale>
          <a:sx n="82" d="100"/>
          <a:sy n="82" d="100"/>
        </p:scale>
        <p:origin x="192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9257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5026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7B3AFCD9-73A3-422A-A823-EACB8511B2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06CBB72-7C5C-4FAA-90E8-CBFA90099704}"/>
              </a:ext>
            </a:extLst>
          </p:cNvPr>
          <p:cNvSpPr>
            <a:spLocks noGrp="1"/>
          </p:cNvSpPr>
          <p:nvPr/>
        </p:nvSpPr>
        <p:spPr>
          <a:xfrm>
            <a:off x="723900" y="5143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INFORME DE AVANCE · PROYECTO DE TÍTULO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9AB8575-85E2-4397-AEF3-AECC821944EA}"/>
              </a:ext>
            </a:extLst>
          </p:cNvPr>
          <p:cNvSpPr>
            <a:spLocks noGrp="1"/>
          </p:cNvSpPr>
          <p:nvPr/>
        </p:nvSpPr>
        <p:spPr>
          <a:xfrm>
            <a:off x="723900" y="1428750"/>
            <a:ext cx="4000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6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SGSI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FF01245-2D83-4FA6-BFB7-505930CB16A1}"/>
              </a:ext>
            </a:extLst>
          </p:cNvPr>
          <p:cNvSpPr>
            <a:spLocks noGrp="1"/>
          </p:cNvSpPr>
          <p:nvPr/>
        </p:nvSpPr>
        <p:spPr>
          <a:xfrm>
            <a:off x="723900" y="2647950"/>
            <a:ext cx="7762875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26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para el seguimiento de madurez ISO/IEC 27001 e incidentes de ciberseguridad</a:t>
            </a:r>
          </a:p>
        </p:txBody>
      </p:sp>
      <p:sp>
        <p:nvSpPr>
          <p:cNvPr id="5" name="Conector recto 4">
            <a:extLst>
              <a:ext uri="{FF2B5EF4-FFF2-40B4-BE49-F238E27FC236}">
                <a16:creationId xmlns:a16="http://schemas.microsoft.com/office/drawing/2014/main" id="{98D84103-412E-44D5-9322-8505D006276C}"/>
              </a:ext>
            </a:extLst>
          </p:cNvPr>
          <p:cNvSpPr>
            <a:spLocks noGrp="1"/>
          </p:cNvSpPr>
          <p:nvPr/>
        </p:nvSpPr>
        <p:spPr>
          <a:xfrm>
            <a:off x="723900" y="4095750"/>
            <a:ext cx="10287000" cy="0"/>
          </a:xfrm>
          <a:prstGeom prst="line">
            <a:avLst/>
          </a:prstGeom>
          <a:noFill/>
          <a:ln w="381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4C4E46B-5253-419E-9054-0B9833646559}"/>
              </a:ext>
            </a:extLst>
          </p:cNvPr>
          <p:cNvSpPr>
            <a:spLocks noGrp="1"/>
          </p:cNvSpPr>
          <p:nvPr/>
        </p:nvSpPr>
        <p:spPr>
          <a:xfrm>
            <a:off x="723900" y="436245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9E11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9E1118"/>
                </a:solidFill>
                <a:latin typeface="Arial"/>
                <a:ea typeface="Arial"/>
                <a:cs typeface="Arial"/>
              </a:rPr>
              <a:t>Hospital Félix Bulnes Cerda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EEFDABF-3F97-4CC3-9522-0ADF0552E2DE}"/>
              </a:ext>
            </a:extLst>
          </p:cNvPr>
          <p:cNvSpPr>
            <a:spLocks noGrp="1"/>
          </p:cNvSpPr>
          <p:nvPr/>
        </p:nvSpPr>
        <p:spPr>
          <a:xfrm>
            <a:off x="723900" y="48577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Asignatura TIHI84  ·  Equipo de Proyecto de Título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AD93204-6851-4E02-8D8A-2C2FA022915B}"/>
              </a:ext>
            </a:extLst>
          </p:cNvPr>
          <p:cNvSpPr>
            <a:spLocks noGrp="1"/>
          </p:cNvSpPr>
          <p:nvPr/>
        </p:nvSpPr>
        <p:spPr>
          <a:xfrm>
            <a:off x="723900" y="5181600"/>
            <a:ext cx="685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Académico guía: Luis Bravo  ·  Mandante: Miguel Godoy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E4557C6-7633-455D-8613-0780567FC4A8}"/>
              </a:ext>
            </a:extLst>
          </p:cNvPr>
          <p:cNvSpPr>
            <a:spLocks noGrp="1"/>
          </p:cNvSpPr>
          <p:nvPr/>
        </p:nvSpPr>
        <p:spPr>
          <a:xfrm>
            <a:off x="11029950" y="63817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825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40366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AA0CF082-675F-44FA-A338-DB10860F34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3492768-62C3-4821-8175-45FFC2F976D7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CONTEXTO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D698F41-21D2-4B56-A6CF-B28BD6D263DF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76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299"/>
          </a:bodyPr>
          <a:lstStyle/>
          <a:p>
            <a:pPr algn="l">
              <a:lnSpc>
                <a:spcPct val="94000"/>
              </a:lnSpc>
              <a:buNone/>
              <a:defRPr sz="28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850" b="1" dirty="0">
                <a:solidFill>
                  <a:srgbClr val="171717"/>
                </a:solidFill>
                <a:latin typeface="Arial"/>
                <a:ea typeface="Arial"/>
                <a:cs typeface="Arial"/>
              </a:rPr>
              <a:t>La </a:t>
            </a:r>
            <a:r>
              <a:rPr sz="2850" b="1" dirty="0" err="1">
                <a:solidFill>
                  <a:srgbClr val="171717"/>
                </a:solidFill>
                <a:latin typeface="Arial"/>
                <a:ea typeface="Arial"/>
                <a:cs typeface="Arial"/>
              </a:rPr>
              <a:t>obligación</a:t>
            </a:r>
            <a:r>
              <a:rPr sz="2850" b="1" dirty="0">
                <a:solidFill>
                  <a:srgbClr val="171717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dirty="0" err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regulatoria</a:t>
            </a:r>
            <a:r>
              <a:rPr sz="2850" b="1" dirty="0">
                <a:solidFill>
                  <a:srgbClr val="171717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dirty="0" err="1">
                <a:solidFill>
                  <a:srgbClr val="171717"/>
                </a:solidFill>
                <a:latin typeface="Arial"/>
                <a:ea typeface="Arial"/>
                <a:cs typeface="Arial"/>
              </a:rPr>
              <a:t>exige</a:t>
            </a:r>
            <a:r>
              <a:rPr sz="2850" b="1" dirty="0">
                <a:solidFill>
                  <a:srgbClr val="171717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dirty="0" err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trazabilidad</a:t>
            </a:r>
            <a:r>
              <a:rPr sz="2850" b="1" dirty="0">
                <a:solidFill>
                  <a:srgbClr val="171717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dirty="0" err="1">
                <a:solidFill>
                  <a:srgbClr val="171717"/>
                </a:solidFill>
                <a:latin typeface="Arial"/>
                <a:ea typeface="Arial"/>
                <a:cs typeface="Arial"/>
              </a:rPr>
              <a:t>verificable</a:t>
            </a:r>
            <a:endParaRPr sz="2850" b="1" dirty="0">
              <a:solidFill>
                <a:srgbClr val="17171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AF360D92-624B-4775-8DD5-4DE7B88C0881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0"/>
          </a:xfrm>
          <a:prstGeom prst="line">
            <a:avLst/>
          </a:prstGeom>
          <a:noFill/>
          <a:ln w="9525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6E3FFC0-3B21-4017-82F6-D16650BA17DE}"/>
              </a:ext>
            </a:extLst>
          </p:cNvPr>
          <p:cNvSpPr>
            <a:spLocks noGrp="1"/>
          </p:cNvSpPr>
          <p:nvPr/>
        </p:nvSpPr>
        <p:spPr>
          <a:xfrm>
            <a:off x="609600" y="6562725"/>
            <a:ext cx="723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67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Fuente: Formulación del Proyecto de Título · documento proporcionado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74E5029-0F37-4C64-8F64-815223BB6D04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7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699E41E-D177-4D28-87F6-29772B4F1EB3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29527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61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OIV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9A31F4B-AE5D-4538-BB21-2B709FE123F3}"/>
              </a:ext>
            </a:extLst>
          </p:cNvPr>
          <p:cNvSpPr>
            <a:spLocks noGrp="1"/>
          </p:cNvSpPr>
          <p:nvPr/>
        </p:nvSpPr>
        <p:spPr>
          <a:xfrm>
            <a:off x="647700" y="2647950"/>
            <a:ext cx="2857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Operador de</a:t>
            </a:r>
          </a:p>
          <a:p>
            <a:pPr algn="l">
              <a:lnSpc>
                <a:spcPct val="100000"/>
              </a:lnSpc>
              <a:buNone/>
              <a:defRPr sz="17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Importancia Vital</a:t>
            </a:r>
          </a:p>
        </p:txBody>
      </p:sp>
      <p:sp>
        <p:nvSpPr>
          <p:cNvPr id="9" name="Conector recto 8">
            <a:extLst>
              <a:ext uri="{FF2B5EF4-FFF2-40B4-BE49-F238E27FC236}">
                <a16:creationId xmlns:a16="http://schemas.microsoft.com/office/drawing/2014/main" id="{AFA33A0A-E4B4-4E76-B1CE-B06E31C9A264}"/>
              </a:ext>
            </a:extLst>
          </p:cNvPr>
          <p:cNvSpPr>
            <a:spLocks noGrp="1"/>
          </p:cNvSpPr>
          <p:nvPr/>
        </p:nvSpPr>
        <p:spPr>
          <a:xfrm>
            <a:off x="3790950" y="1619250"/>
            <a:ext cx="0" cy="3905250"/>
          </a:xfrm>
          <a:prstGeom prst="line">
            <a:avLst/>
          </a:prstGeom>
          <a:noFill/>
          <a:ln w="19050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74D190E-C9D0-4A20-B9E2-0B16AAD61954}"/>
              </a:ext>
            </a:extLst>
          </p:cNvPr>
          <p:cNvSpPr>
            <a:spLocks noGrp="1"/>
          </p:cNvSpPr>
          <p:nvPr/>
        </p:nvSpPr>
        <p:spPr>
          <a:xfrm>
            <a:off x="4191000" y="1695450"/>
            <a:ext cx="171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4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3 h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12D8CC4-2D59-4B73-9223-EDAF29A9419D}"/>
              </a:ext>
            </a:extLst>
          </p:cNvPr>
          <p:cNvSpPr>
            <a:spLocks noGrp="1"/>
          </p:cNvSpPr>
          <p:nvPr/>
        </p:nvSpPr>
        <p:spPr>
          <a:xfrm>
            <a:off x="4191000" y="23431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alerta temprana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E136B40-7191-4FA4-B225-FEAD6BA1BF72}"/>
              </a:ext>
            </a:extLst>
          </p:cNvPr>
          <p:cNvSpPr>
            <a:spLocks noGrp="1"/>
          </p:cNvSpPr>
          <p:nvPr/>
        </p:nvSpPr>
        <p:spPr>
          <a:xfrm>
            <a:off x="6877050" y="1695450"/>
            <a:ext cx="1809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4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72 h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CED6576-AF40-45AC-AEE7-D6A9AF93A56A}"/>
              </a:ext>
            </a:extLst>
          </p:cNvPr>
          <p:cNvSpPr>
            <a:spLocks noGrp="1"/>
          </p:cNvSpPr>
          <p:nvPr/>
        </p:nvSpPr>
        <p:spPr>
          <a:xfrm>
            <a:off x="6877050" y="23431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reporte de seguimiento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E298559-35CC-4F23-82A4-8497261E027E}"/>
              </a:ext>
            </a:extLst>
          </p:cNvPr>
          <p:cNvSpPr>
            <a:spLocks noGrp="1"/>
          </p:cNvSpPr>
          <p:nvPr/>
        </p:nvSpPr>
        <p:spPr>
          <a:xfrm>
            <a:off x="9525000" y="1695450"/>
            <a:ext cx="200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509"/>
          </a:bodyPr>
          <a:lstStyle/>
          <a:p>
            <a:pPr algn="l">
              <a:lnSpc>
                <a:spcPct val="100000"/>
              </a:lnSpc>
              <a:buNone/>
              <a:defRPr sz="4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15 días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8695E5C-0F73-4278-B5A6-1C4D8DE4AA50}"/>
              </a:ext>
            </a:extLst>
          </p:cNvPr>
          <p:cNvSpPr>
            <a:spLocks noGrp="1"/>
          </p:cNvSpPr>
          <p:nvPr/>
        </p:nvSpPr>
        <p:spPr>
          <a:xfrm>
            <a:off x="9525000" y="23431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869"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cierre según severidad</a:t>
            </a:r>
          </a:p>
        </p:txBody>
      </p:sp>
      <p:sp>
        <p:nvSpPr>
          <p:cNvPr id="16" name="Conector recto 15">
            <a:extLst>
              <a:ext uri="{FF2B5EF4-FFF2-40B4-BE49-F238E27FC236}">
                <a16:creationId xmlns:a16="http://schemas.microsoft.com/office/drawing/2014/main" id="{4FD2D01B-E69D-4C57-81FD-259C75383AB5}"/>
              </a:ext>
            </a:extLst>
          </p:cNvPr>
          <p:cNvSpPr>
            <a:spLocks noGrp="1"/>
          </p:cNvSpPr>
          <p:nvPr/>
        </p:nvSpPr>
        <p:spPr>
          <a:xfrm>
            <a:off x="4191000" y="2933700"/>
            <a:ext cx="7239000" cy="0"/>
          </a:xfrm>
          <a:prstGeom prst="line">
            <a:avLst/>
          </a:prstGeom>
          <a:noFill/>
          <a:ln w="9525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164C960-5CD0-46A2-B246-00499FC6F018}"/>
              </a:ext>
            </a:extLst>
          </p:cNvPr>
          <p:cNvSpPr>
            <a:spLocks noGrp="1"/>
          </p:cNvSpPr>
          <p:nvPr/>
        </p:nvSpPr>
        <p:spPr>
          <a:xfrm>
            <a:off x="4191000" y="3219450"/>
            <a:ext cx="70485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 Seguimiento de controles ISO/IEC 27001 y evidencia de cumplimiento.</a:t>
            </a: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 Clasificación de incidentes según taxonomía ANCI.</a:t>
            </a: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 Protección de información clínica y continuidad de la atención.</a:t>
            </a: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 Rendición de cuentas ante Dirección y organismos reguladores.</a:t>
            </a:r>
          </a:p>
        </p:txBody>
      </p:sp>
    </p:spTree>
    <p:extLst>
      <p:ext uri="{BB962C8B-B14F-4D97-AF65-F5344CB8AC3E}">
        <p14:creationId xmlns:p14="http://schemas.microsoft.com/office/powerpoint/2010/main" val="221832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8F7FEB89-4722-4594-8E7E-6DEBFF9FC4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24B555E-D566-4308-A837-31122F3FDA9C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DIAGNÓSTICO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C6C8A06-92FA-4353-9469-78AB60BE98FD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76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612"/>
          </a:bodyPr>
          <a:lstStyle/>
          <a:p>
            <a:pPr algn="l">
              <a:lnSpc>
                <a:spcPct val="94000"/>
              </a:lnSpc>
              <a:buNone/>
              <a:defRPr sz="28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La fragmentación impide medir, demostrar y reaccionar</a:t>
            </a:r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A3C59A07-8BAD-4BED-AE80-A8803B8EBB4B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0"/>
          </a:xfrm>
          <a:prstGeom prst="line">
            <a:avLst/>
          </a:prstGeom>
          <a:noFill/>
          <a:ln w="9525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5663F81-4BC6-431B-942B-D646898E0EE2}"/>
              </a:ext>
            </a:extLst>
          </p:cNvPr>
          <p:cNvSpPr>
            <a:spLocks noGrp="1"/>
          </p:cNvSpPr>
          <p:nvPr/>
        </p:nvSpPr>
        <p:spPr>
          <a:xfrm>
            <a:off x="609600" y="6562725"/>
            <a:ext cx="723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67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Fuente: Formulación del Proyecto de Título · documento proporcionado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BE1A242-6664-4B00-9D8F-B1611BFEECD4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7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fuentes">
            <a:extLst>
              <a:ext uri="{FF2B5EF4-FFF2-40B4-BE49-F238E27FC236}">
                <a16:creationId xmlns:a16="http://schemas.microsoft.com/office/drawing/2014/main" id="{10F188BA-81DF-4851-A3DA-27E618ECA20B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25717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7F80181-60ED-4684-BB4D-372D1BAC0A0B}"/>
              </a:ext>
            </a:extLst>
          </p:cNvPr>
          <p:cNvSpPr>
            <a:spLocks noGrp="1"/>
          </p:cNvSpPr>
          <p:nvPr/>
        </p:nvSpPr>
        <p:spPr>
          <a:xfrm>
            <a:off x="857250" y="1885950"/>
            <a:ext cx="2228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491" lnSpcReduction="10000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 dirty="0">
                <a:solidFill>
                  <a:srgbClr val="171717"/>
                </a:solidFill>
                <a:latin typeface="Arial"/>
                <a:ea typeface="Arial"/>
                <a:cs typeface="Arial"/>
              </a:rPr>
              <a:t>PLANILLAS  ·  CORREOS  ·  ACTAS</a:t>
            </a:r>
          </a:p>
        </p:txBody>
      </p:sp>
      <p:sp>
        <p:nvSpPr>
          <p:cNvPr id="9" name="sin-repositorio">
            <a:extLst>
              <a:ext uri="{FF2B5EF4-FFF2-40B4-BE49-F238E27FC236}">
                <a16:creationId xmlns:a16="http://schemas.microsoft.com/office/drawing/2014/main" id="{C1D7B0E5-DF5D-4024-975A-EF3F8D970CBE}"/>
              </a:ext>
            </a:extLst>
          </p:cNvPr>
          <p:cNvSpPr>
            <a:spLocks noGrp="1"/>
          </p:cNvSpPr>
          <p:nvPr/>
        </p:nvSpPr>
        <p:spPr>
          <a:xfrm>
            <a:off x="4800600" y="1676400"/>
            <a:ext cx="2571750" cy="952500"/>
          </a:xfrm>
          <a:prstGeom prst="rect">
            <a:avLst/>
          </a:prstGeom>
          <a:solidFill>
            <a:srgbClr val="D71920"/>
          </a:solidFill>
          <a:ln w="9525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275FBEE-09B3-4429-9720-DA6982F84959}"/>
              </a:ext>
            </a:extLst>
          </p:cNvPr>
          <p:cNvSpPr>
            <a:spLocks noGrp="1"/>
          </p:cNvSpPr>
          <p:nvPr/>
        </p:nvSpPr>
        <p:spPr>
          <a:xfrm>
            <a:off x="5029200" y="1885950"/>
            <a:ext cx="2114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1667" lnSpcReduction="10000"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SIN REPOSITORIO ÚNICO</a:t>
            </a:r>
          </a:p>
        </p:txBody>
      </p:sp>
      <p:sp>
        <p:nvSpPr>
          <p:cNvPr id="11" name="consecuencia">
            <a:extLst>
              <a:ext uri="{FF2B5EF4-FFF2-40B4-BE49-F238E27FC236}">
                <a16:creationId xmlns:a16="http://schemas.microsoft.com/office/drawing/2014/main" id="{5CF24B61-B279-4B55-BB99-A47C864A0225}"/>
              </a:ext>
            </a:extLst>
          </p:cNvPr>
          <p:cNvSpPr>
            <a:spLocks noGrp="1"/>
          </p:cNvSpPr>
          <p:nvPr/>
        </p:nvSpPr>
        <p:spPr>
          <a:xfrm>
            <a:off x="8915400" y="1676400"/>
            <a:ext cx="2571750" cy="952500"/>
          </a:xfrm>
          <a:prstGeom prst="rect">
            <a:avLst/>
          </a:prstGeom>
          <a:solidFill>
            <a:srgbClr val="171717"/>
          </a:solidFill>
          <a:ln w="9525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F4939A2-AAF3-4D67-98EE-F00242848564}"/>
              </a:ext>
            </a:extLst>
          </p:cNvPr>
          <p:cNvSpPr>
            <a:spLocks noGrp="1"/>
          </p:cNvSpPr>
          <p:nvPr/>
        </p:nvSpPr>
        <p:spPr>
          <a:xfrm>
            <a:off x="9124950" y="1885950"/>
            <a:ext cx="2152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767"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BAJA TRAZABILIDAD</a:t>
            </a:r>
          </a:p>
        </p:txBody>
      </p:sp>
      <p:cxnSp>
        <p:nvCxnSpPr>
          <p:cNvPr id="13" name="Conector recto de flecha 12"/>
          <p:cNvCxnSpPr>
            <a:stCxn id="7" idx="3"/>
            <a:endCxn id="9" idx="1"/>
          </p:cNvCxnSpPr>
          <p:nvPr/>
        </p:nvCxnSpPr>
        <p:spPr>
          <a:xfrm>
            <a:off x="3257550" y="2152650"/>
            <a:ext cx="1543050" cy="0"/>
          </a:xfrm>
          <a:prstGeom prst="straightConnector1">
            <a:avLst/>
          </a:prstGeom>
          <a:ln w="28575">
            <a:solidFill>
              <a:srgbClr val="626262"/>
            </a:solidFill>
            <a:prstDash val="solid"/>
            <a:tailEnd type="triangle" w="sm" len="sm"/>
          </a:ln>
        </p:spPr>
      </p:cxnSp>
      <p:cxnSp>
        <p:nvCxnSpPr>
          <p:cNvPr id="14" name="Conector recto de flecha 13"/>
          <p:cNvCxnSpPr>
            <a:stCxn id="9" idx="3"/>
            <a:endCxn id="11" idx="1"/>
          </p:cNvCxnSpPr>
          <p:nvPr/>
        </p:nvCxnSpPr>
        <p:spPr>
          <a:xfrm>
            <a:off x="7372350" y="2152650"/>
            <a:ext cx="1543050" cy="0"/>
          </a:xfrm>
          <a:prstGeom prst="straightConnector1">
            <a:avLst/>
          </a:prstGeom>
          <a:ln w="28575">
            <a:solidFill>
              <a:srgbClr val="626262"/>
            </a:solidFill>
            <a:prstDash val="solid"/>
            <a:tailEnd type="triangle" w="sm" len="sm"/>
          </a:ln>
        </p:spPr>
      </p:cxn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546C091-D8FD-4815-B8A2-DA6B43BE47D7}"/>
              </a:ext>
            </a:extLst>
          </p:cNvPr>
          <p:cNvSpPr>
            <a:spLocks noGrp="1"/>
          </p:cNvSpPr>
          <p:nvPr/>
        </p:nvSpPr>
        <p:spPr>
          <a:xfrm>
            <a:off x="685800" y="33528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01 · MADUREZ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0206DC0-C23C-4203-AD3C-1E9890EDCFBB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3143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No hay una lectura global ni por dominio del avance del SGSI.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4A6BC6D-5F68-40EA-83D2-23D61DC091D1}"/>
              </a:ext>
            </a:extLst>
          </p:cNvPr>
          <p:cNvSpPr>
            <a:spLocks noGrp="1"/>
          </p:cNvSpPr>
          <p:nvPr/>
        </p:nvSpPr>
        <p:spPr>
          <a:xfrm>
            <a:off x="4476750" y="33528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02 · INCIDENTES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24242FF-7599-4488-9214-8E6385DD34BD}"/>
              </a:ext>
            </a:extLst>
          </p:cNvPr>
          <p:cNvSpPr>
            <a:spLocks noGrp="1"/>
          </p:cNvSpPr>
          <p:nvPr/>
        </p:nvSpPr>
        <p:spPr>
          <a:xfrm>
            <a:off x="4476750" y="3638550"/>
            <a:ext cx="3143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La clasificación y los plazos legales no están integrados.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7C872CB-B0EF-4F76-BCD0-96DDB23C69F3}"/>
              </a:ext>
            </a:extLst>
          </p:cNvPr>
          <p:cNvSpPr>
            <a:spLocks noGrp="1"/>
          </p:cNvSpPr>
          <p:nvPr/>
        </p:nvSpPr>
        <p:spPr>
          <a:xfrm>
            <a:off x="8267700" y="3352800"/>
            <a:ext cx="3219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03 · TERCEROS Y PERSONAS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EF1245E-83BC-4B55-AA97-023DBF70FB69}"/>
              </a:ext>
            </a:extLst>
          </p:cNvPr>
          <p:cNvSpPr>
            <a:spLocks noGrp="1"/>
          </p:cNvSpPr>
          <p:nvPr/>
        </p:nvSpPr>
        <p:spPr>
          <a:xfrm>
            <a:off x="8267700" y="3638550"/>
            <a:ext cx="32194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Contratos, cláusulas y evidencias permanecen dispersos.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9E9ED34-2F40-46E8-B14F-5FF2246BC565}"/>
              </a:ext>
            </a:extLst>
          </p:cNvPr>
          <p:cNvSpPr>
            <a:spLocks noGrp="1"/>
          </p:cNvSpPr>
          <p:nvPr/>
        </p:nvSpPr>
        <p:spPr>
          <a:xfrm>
            <a:off x="685800" y="5391150"/>
            <a:ext cx="10648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621"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9E11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E1118"/>
                </a:solidFill>
                <a:latin typeface="Arial"/>
                <a:ea typeface="Arial"/>
                <a:cs typeface="Arial"/>
              </a:rPr>
              <a:t>Resultado: mayor esfuerzo manual, dependencia de memoria institucional y menor capacidad de respuesta.</a:t>
            </a:r>
          </a:p>
        </p:txBody>
      </p:sp>
    </p:spTree>
    <p:extLst>
      <p:ext uri="{BB962C8B-B14F-4D97-AF65-F5344CB8AC3E}">
        <p14:creationId xmlns:p14="http://schemas.microsoft.com/office/powerpoint/2010/main" val="1123130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3EB029CB-F003-40C3-A61E-C79B566D2C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60BFD6B-E62B-45FA-96BD-17E0E1F3758B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SOLUCIÓN PROPUESTA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C19A6AA-C402-4196-AD43-B1785912250A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76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4000"/>
              </a:lnSpc>
              <a:buNone/>
              <a:defRPr sz="28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850" b="1" dirty="0">
                <a:solidFill>
                  <a:srgbClr val="171717"/>
                </a:solidFill>
                <a:latin typeface="Arial"/>
                <a:ea typeface="Arial"/>
                <a:cs typeface="Arial"/>
              </a:rPr>
              <a:t>Un </a:t>
            </a:r>
            <a:r>
              <a:rPr sz="2850" b="1" dirty="0" err="1">
                <a:solidFill>
                  <a:srgbClr val="171717"/>
                </a:solidFill>
                <a:latin typeface="Arial"/>
                <a:ea typeface="Arial"/>
                <a:cs typeface="Arial"/>
              </a:rPr>
              <a:t>único</a:t>
            </a:r>
            <a:r>
              <a:rPr sz="2850" b="1" dirty="0">
                <a:solidFill>
                  <a:srgbClr val="171717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dirty="0" err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registro</a:t>
            </a:r>
            <a:r>
              <a:rPr sz="2850" b="1" dirty="0">
                <a:solidFill>
                  <a:srgbClr val="171717"/>
                </a:solidFill>
                <a:latin typeface="Arial"/>
                <a:ea typeface="Arial"/>
                <a:cs typeface="Arial"/>
              </a:rPr>
              <a:t> auditable </a:t>
            </a:r>
            <a:r>
              <a:rPr sz="2850" b="1" dirty="0" err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articula</a:t>
            </a:r>
            <a:r>
              <a:rPr sz="2850" b="1" dirty="0">
                <a:solidFill>
                  <a:srgbClr val="171717"/>
                </a:solidFill>
                <a:latin typeface="Arial"/>
                <a:ea typeface="Arial"/>
                <a:cs typeface="Arial"/>
              </a:rPr>
              <a:t> el SGSI</a:t>
            </a:r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D2A0CCF0-29E3-47F6-A87E-21AF3FCA9BC2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0"/>
          </a:xfrm>
          <a:prstGeom prst="line">
            <a:avLst/>
          </a:prstGeom>
          <a:noFill/>
          <a:ln w="9525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E88912F-4A24-41C3-A40D-D063FE44DB5B}"/>
              </a:ext>
            </a:extLst>
          </p:cNvPr>
          <p:cNvSpPr>
            <a:spLocks noGrp="1"/>
          </p:cNvSpPr>
          <p:nvPr/>
        </p:nvSpPr>
        <p:spPr>
          <a:xfrm>
            <a:off x="609600" y="6562725"/>
            <a:ext cx="723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67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Fuente: Formulación del Proyecto de Título · documento proporcionado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C15D93B-5265-4392-9585-FD6131A85AB2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7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555EB7A-5270-431E-8F95-ADB75E6F1FD2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2952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537" lnSpcReduction="10000"/>
          </a:bodyPr>
          <a:lstStyle/>
          <a:p>
            <a:pPr algn="l">
              <a:lnSpc>
                <a:spcPct val="100000"/>
              </a:lnSpc>
              <a:buNone/>
              <a:defRPr sz="540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GRC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431B94B-4C2E-4C5D-9020-0035FAEF887E}"/>
              </a:ext>
            </a:extLst>
          </p:cNvPr>
          <p:cNvSpPr>
            <a:spLocks noGrp="1"/>
          </p:cNvSpPr>
          <p:nvPr/>
        </p:nvSpPr>
        <p:spPr>
          <a:xfrm>
            <a:off x="647700" y="251460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941"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Aplicación web modular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8B6515B-05FE-4D46-8525-089EEC22A6C1}"/>
              </a:ext>
            </a:extLst>
          </p:cNvPr>
          <p:cNvSpPr>
            <a:spLocks noGrp="1"/>
          </p:cNvSpPr>
          <p:nvPr/>
        </p:nvSpPr>
        <p:spPr>
          <a:xfrm>
            <a:off x="647700" y="3028950"/>
            <a:ext cx="28575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312"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Centraliza controles, evidencia, incidentes y reportes para transformar actividad dispersa en decisiones verificables.</a:t>
            </a:r>
          </a:p>
        </p:txBody>
      </p:sp>
      <p:sp>
        <p:nvSpPr>
          <p:cNvPr id="10" name="Conector recto 9">
            <a:extLst>
              <a:ext uri="{FF2B5EF4-FFF2-40B4-BE49-F238E27FC236}">
                <a16:creationId xmlns:a16="http://schemas.microsoft.com/office/drawing/2014/main" id="{0BF206FE-D43A-4B60-80F1-5F08C042AED6}"/>
              </a:ext>
            </a:extLst>
          </p:cNvPr>
          <p:cNvSpPr>
            <a:spLocks noGrp="1"/>
          </p:cNvSpPr>
          <p:nvPr/>
        </p:nvSpPr>
        <p:spPr>
          <a:xfrm>
            <a:off x="3829050" y="1619250"/>
            <a:ext cx="0" cy="3943350"/>
          </a:xfrm>
          <a:prstGeom prst="line">
            <a:avLst/>
          </a:prstGeom>
          <a:noFill/>
          <a:ln w="19050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35BB153-ABB0-4175-8F3B-461A6CBAD8E7}"/>
              </a:ext>
            </a:extLst>
          </p:cNvPr>
          <p:cNvSpPr>
            <a:spLocks noGrp="1"/>
          </p:cNvSpPr>
          <p:nvPr/>
        </p:nvSpPr>
        <p:spPr>
          <a:xfrm>
            <a:off x="4248150" y="16002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4E8E77B-924B-49CE-AF6B-5C1986371255}"/>
              </a:ext>
            </a:extLst>
          </p:cNvPr>
          <p:cNvSpPr>
            <a:spLocks noGrp="1"/>
          </p:cNvSpPr>
          <p:nvPr/>
        </p:nvSpPr>
        <p:spPr>
          <a:xfrm>
            <a:off x="4857750" y="16002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Controles ISO 27001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37E807E-769A-4978-9353-F92CF5B0FED4}"/>
              </a:ext>
            </a:extLst>
          </p:cNvPr>
          <p:cNvSpPr>
            <a:spLocks noGrp="1"/>
          </p:cNvSpPr>
          <p:nvPr/>
        </p:nvSpPr>
        <p:spPr>
          <a:xfrm>
            <a:off x="7791450" y="160020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Estado, dominio y evidencia</a:t>
            </a:r>
          </a:p>
        </p:txBody>
      </p:sp>
      <p:sp>
        <p:nvSpPr>
          <p:cNvPr id="14" name="Conector recto 13">
            <a:extLst>
              <a:ext uri="{FF2B5EF4-FFF2-40B4-BE49-F238E27FC236}">
                <a16:creationId xmlns:a16="http://schemas.microsoft.com/office/drawing/2014/main" id="{49058E46-9DEB-4FEE-8146-B5A99F8E687E}"/>
              </a:ext>
            </a:extLst>
          </p:cNvPr>
          <p:cNvSpPr>
            <a:spLocks noGrp="1"/>
          </p:cNvSpPr>
          <p:nvPr/>
        </p:nvSpPr>
        <p:spPr>
          <a:xfrm>
            <a:off x="4248150" y="2057400"/>
            <a:ext cx="7067550" cy="0"/>
          </a:xfrm>
          <a:prstGeom prst="line">
            <a:avLst/>
          </a:prstGeom>
          <a:noFill/>
          <a:ln w="9525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4EE7F03-3554-4F93-95BB-9E07C58073EF}"/>
              </a:ext>
            </a:extLst>
          </p:cNvPr>
          <p:cNvSpPr>
            <a:spLocks noGrp="1"/>
          </p:cNvSpPr>
          <p:nvPr/>
        </p:nvSpPr>
        <p:spPr>
          <a:xfrm>
            <a:off x="4248150" y="2371725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361FF89-1330-42F0-92B0-798E9DC596E0}"/>
              </a:ext>
            </a:extLst>
          </p:cNvPr>
          <p:cNvSpPr>
            <a:spLocks noGrp="1"/>
          </p:cNvSpPr>
          <p:nvPr/>
        </p:nvSpPr>
        <p:spPr>
          <a:xfrm>
            <a:off x="4857750" y="2371725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Madurez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35A8B6D-E3BA-4828-BE03-CC9FCBD08DD9}"/>
              </a:ext>
            </a:extLst>
          </p:cNvPr>
          <p:cNvSpPr>
            <a:spLocks noGrp="1"/>
          </p:cNvSpPr>
          <p:nvPr/>
        </p:nvSpPr>
        <p:spPr>
          <a:xfrm>
            <a:off x="7791450" y="2371725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Indicadores por dominio y consolidado</a:t>
            </a:r>
          </a:p>
        </p:txBody>
      </p:sp>
      <p:sp>
        <p:nvSpPr>
          <p:cNvPr id="18" name="Conector recto 17">
            <a:extLst>
              <a:ext uri="{FF2B5EF4-FFF2-40B4-BE49-F238E27FC236}">
                <a16:creationId xmlns:a16="http://schemas.microsoft.com/office/drawing/2014/main" id="{E4154F4B-F5E7-41B6-B0D0-BA22BB8920AE}"/>
              </a:ext>
            </a:extLst>
          </p:cNvPr>
          <p:cNvSpPr>
            <a:spLocks noGrp="1"/>
          </p:cNvSpPr>
          <p:nvPr/>
        </p:nvSpPr>
        <p:spPr>
          <a:xfrm>
            <a:off x="4248150" y="2828925"/>
            <a:ext cx="7067550" cy="0"/>
          </a:xfrm>
          <a:prstGeom prst="line">
            <a:avLst/>
          </a:prstGeom>
          <a:noFill/>
          <a:ln w="9525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C2FAA27-06EF-4009-A1FE-593D7AEA8DB6}"/>
              </a:ext>
            </a:extLst>
          </p:cNvPr>
          <p:cNvSpPr>
            <a:spLocks noGrp="1"/>
          </p:cNvSpPr>
          <p:nvPr/>
        </p:nvSpPr>
        <p:spPr>
          <a:xfrm>
            <a:off x="4248150" y="31432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F748F1D-CDE0-4B58-A462-A8761846B97C}"/>
              </a:ext>
            </a:extLst>
          </p:cNvPr>
          <p:cNvSpPr>
            <a:spLocks noGrp="1"/>
          </p:cNvSpPr>
          <p:nvPr/>
        </p:nvSpPr>
        <p:spPr>
          <a:xfrm>
            <a:off x="4857750" y="31432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Incidentes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E97B0E5-19FB-47A7-9F2A-96E2E4313CBC}"/>
              </a:ext>
            </a:extLst>
          </p:cNvPr>
          <p:cNvSpPr>
            <a:spLocks noGrp="1"/>
          </p:cNvSpPr>
          <p:nvPr/>
        </p:nvSpPr>
        <p:spPr>
          <a:xfrm>
            <a:off x="7791450" y="314325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Taxonomía ANCI, plazos y alertas</a:t>
            </a:r>
          </a:p>
        </p:txBody>
      </p:sp>
      <p:sp>
        <p:nvSpPr>
          <p:cNvPr id="22" name="Conector recto 21">
            <a:extLst>
              <a:ext uri="{FF2B5EF4-FFF2-40B4-BE49-F238E27FC236}">
                <a16:creationId xmlns:a16="http://schemas.microsoft.com/office/drawing/2014/main" id="{67ED03B1-CB9A-4701-AA7F-016EF807AE2F}"/>
              </a:ext>
            </a:extLst>
          </p:cNvPr>
          <p:cNvSpPr>
            <a:spLocks noGrp="1"/>
          </p:cNvSpPr>
          <p:nvPr/>
        </p:nvSpPr>
        <p:spPr>
          <a:xfrm>
            <a:off x="4248150" y="3600450"/>
            <a:ext cx="7067550" cy="0"/>
          </a:xfrm>
          <a:prstGeom prst="line">
            <a:avLst/>
          </a:prstGeom>
          <a:noFill/>
          <a:ln w="9525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7D2FF61-9173-44F0-AF92-EE666F70552A}"/>
              </a:ext>
            </a:extLst>
          </p:cNvPr>
          <p:cNvSpPr>
            <a:spLocks noGrp="1"/>
          </p:cNvSpPr>
          <p:nvPr/>
        </p:nvSpPr>
        <p:spPr>
          <a:xfrm>
            <a:off x="4248150" y="3914775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47C64FE-C99E-4F70-8F63-9C1E13D9E8EC}"/>
              </a:ext>
            </a:extLst>
          </p:cNvPr>
          <p:cNvSpPr>
            <a:spLocks noGrp="1"/>
          </p:cNvSpPr>
          <p:nvPr/>
        </p:nvSpPr>
        <p:spPr>
          <a:xfrm>
            <a:off x="4857750" y="3914775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Terceros y personas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95D5D80F-5619-45F4-BCAE-F9B351C4AFB0}"/>
              </a:ext>
            </a:extLst>
          </p:cNvPr>
          <p:cNvSpPr>
            <a:spLocks noGrp="1"/>
          </p:cNvSpPr>
          <p:nvPr/>
        </p:nvSpPr>
        <p:spPr>
          <a:xfrm>
            <a:off x="7791450" y="3914775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Cláusulas, capacitación y trazabilidad</a:t>
            </a:r>
          </a:p>
        </p:txBody>
      </p:sp>
      <p:sp>
        <p:nvSpPr>
          <p:cNvPr id="26" name="Conector recto 25">
            <a:extLst>
              <a:ext uri="{FF2B5EF4-FFF2-40B4-BE49-F238E27FC236}">
                <a16:creationId xmlns:a16="http://schemas.microsoft.com/office/drawing/2014/main" id="{E8758277-98DF-4ABD-98C9-668A489CD9A5}"/>
              </a:ext>
            </a:extLst>
          </p:cNvPr>
          <p:cNvSpPr>
            <a:spLocks noGrp="1"/>
          </p:cNvSpPr>
          <p:nvPr/>
        </p:nvSpPr>
        <p:spPr>
          <a:xfrm>
            <a:off x="4248150" y="4371975"/>
            <a:ext cx="7067550" cy="0"/>
          </a:xfrm>
          <a:prstGeom prst="line">
            <a:avLst/>
          </a:prstGeom>
          <a:noFill/>
          <a:ln w="9525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9A61218B-8A31-43A5-BD0B-12F94D0580A6}"/>
              </a:ext>
            </a:extLst>
          </p:cNvPr>
          <p:cNvSpPr>
            <a:spLocks noGrp="1"/>
          </p:cNvSpPr>
          <p:nvPr/>
        </p:nvSpPr>
        <p:spPr>
          <a:xfrm>
            <a:off x="4248150" y="46863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65B8BF1B-28FB-4917-9BAF-BB50CEAE0B4C}"/>
              </a:ext>
            </a:extLst>
          </p:cNvPr>
          <p:cNvSpPr>
            <a:spLocks noGrp="1"/>
          </p:cNvSpPr>
          <p:nvPr/>
        </p:nvSpPr>
        <p:spPr>
          <a:xfrm>
            <a:off x="4857750" y="46863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Reportería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7849DA25-11DA-4164-938B-C363091DBE0A}"/>
              </a:ext>
            </a:extLst>
          </p:cNvPr>
          <p:cNvSpPr>
            <a:spLocks noGrp="1"/>
          </p:cNvSpPr>
          <p:nvPr/>
        </p:nvSpPr>
        <p:spPr>
          <a:xfrm>
            <a:off x="7791450" y="468630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Informes para gestión y auditoría</a:t>
            </a:r>
          </a:p>
        </p:txBody>
      </p:sp>
      <p:sp>
        <p:nvSpPr>
          <p:cNvPr id="30" name="Conector recto 29">
            <a:extLst>
              <a:ext uri="{FF2B5EF4-FFF2-40B4-BE49-F238E27FC236}">
                <a16:creationId xmlns:a16="http://schemas.microsoft.com/office/drawing/2014/main" id="{68DBA445-CD63-4F28-B463-4456420F6E67}"/>
              </a:ext>
            </a:extLst>
          </p:cNvPr>
          <p:cNvSpPr>
            <a:spLocks noGrp="1"/>
          </p:cNvSpPr>
          <p:nvPr/>
        </p:nvSpPr>
        <p:spPr>
          <a:xfrm>
            <a:off x="4248150" y="5143500"/>
            <a:ext cx="7067550" cy="0"/>
          </a:xfrm>
          <a:prstGeom prst="line">
            <a:avLst/>
          </a:prstGeom>
          <a:noFill/>
          <a:ln w="9525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27811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ángulo 29">
            <a:extLst>
              <a:ext uri="{FF2B5EF4-FFF2-40B4-BE49-F238E27FC236}">
                <a16:creationId xmlns:a16="http://schemas.microsoft.com/office/drawing/2014/main" id="{6B4F329D-403F-4FF4-A9FC-C9F5522F96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AEF982D-74B0-4B56-A2CE-A5406B448EFE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REQUERIMIENTOS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BBB5D2B-FCBF-41B1-BBBC-A4434CC718B8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76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901"/>
          </a:bodyPr>
          <a:lstStyle/>
          <a:p>
            <a:pPr algn="l">
              <a:lnSpc>
                <a:spcPct val="94000"/>
              </a:lnSpc>
              <a:buNone/>
              <a:defRPr sz="28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Los requisitos siguen el ciclo registrar–medir–alertar–evidenciar</a:t>
            </a:r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9346FF1A-9688-4800-9F3F-95C5326905B7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0"/>
          </a:xfrm>
          <a:prstGeom prst="line">
            <a:avLst/>
          </a:prstGeom>
          <a:noFill/>
          <a:ln w="9525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FDE8216-E32C-4F41-A966-FE690444BABE}"/>
              </a:ext>
            </a:extLst>
          </p:cNvPr>
          <p:cNvSpPr>
            <a:spLocks noGrp="1"/>
          </p:cNvSpPr>
          <p:nvPr/>
        </p:nvSpPr>
        <p:spPr>
          <a:xfrm>
            <a:off x="609600" y="6562725"/>
            <a:ext cx="723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67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Fuente: Formulación del Proyecto de Título · documento proporcionado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376860A-806E-41E0-B506-07DB4D3D2AA6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7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BCF5441-07D9-4EC6-B55D-D3FFC3906C20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66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17D46C89-AE04-4EB9-94FC-0B9461A1A733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2190750" cy="0"/>
          </a:xfrm>
          <a:prstGeom prst="line">
            <a:avLst/>
          </a:prstGeom>
          <a:noFill/>
          <a:ln w="1905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F5879C6-E929-45D4-97AC-27071B714E23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REGISTRAR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453A72F-DAB4-4877-8348-911F1B3DEBEA}"/>
              </a:ext>
            </a:extLst>
          </p:cNvPr>
          <p:cNvSpPr>
            <a:spLocks noGrp="1"/>
          </p:cNvSpPr>
          <p:nvPr/>
        </p:nvSpPr>
        <p:spPr>
          <a:xfrm>
            <a:off x="609600" y="2838450"/>
            <a:ext cx="21907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Controles, evidencia, incidentes, proveedores y controles de personas.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D14F864-2274-4532-98AD-0F0E4D3F2514}"/>
              </a:ext>
            </a:extLst>
          </p:cNvPr>
          <p:cNvSpPr>
            <a:spLocks noGrp="1"/>
          </p:cNvSpPr>
          <p:nvPr/>
        </p:nvSpPr>
        <p:spPr>
          <a:xfrm>
            <a:off x="3314700" y="1619250"/>
            <a:ext cx="66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Conector recto 11">
            <a:extLst>
              <a:ext uri="{FF2B5EF4-FFF2-40B4-BE49-F238E27FC236}">
                <a16:creationId xmlns:a16="http://schemas.microsoft.com/office/drawing/2014/main" id="{6990E480-9984-4B22-B64C-948500C74D7A}"/>
              </a:ext>
            </a:extLst>
          </p:cNvPr>
          <p:cNvSpPr>
            <a:spLocks noGrp="1"/>
          </p:cNvSpPr>
          <p:nvPr/>
        </p:nvSpPr>
        <p:spPr>
          <a:xfrm>
            <a:off x="3314700" y="2209800"/>
            <a:ext cx="2190750" cy="0"/>
          </a:xfrm>
          <a:prstGeom prst="line">
            <a:avLst/>
          </a:prstGeom>
          <a:noFill/>
          <a:ln w="1905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712F2C2-A203-4F2E-9434-4FFCDB0E0CC2}"/>
              </a:ext>
            </a:extLst>
          </p:cNvPr>
          <p:cNvSpPr>
            <a:spLocks noGrp="1"/>
          </p:cNvSpPr>
          <p:nvPr/>
        </p:nvSpPr>
        <p:spPr>
          <a:xfrm>
            <a:off x="3314700" y="23812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MEDIR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6BB6A25-BB50-44D5-B062-B0DB8D7B8729}"/>
              </a:ext>
            </a:extLst>
          </p:cNvPr>
          <p:cNvSpPr>
            <a:spLocks noGrp="1"/>
          </p:cNvSpPr>
          <p:nvPr/>
        </p:nvSpPr>
        <p:spPr>
          <a:xfrm>
            <a:off x="3314700" y="2838450"/>
            <a:ext cx="21907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Madurez por dominio y consolidado institucional con lectura gráfica.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D298856-FB04-462F-948A-220B29D48919}"/>
              </a:ext>
            </a:extLst>
          </p:cNvPr>
          <p:cNvSpPr>
            <a:spLocks noGrp="1"/>
          </p:cNvSpPr>
          <p:nvPr/>
        </p:nvSpPr>
        <p:spPr>
          <a:xfrm>
            <a:off x="6019800" y="1619250"/>
            <a:ext cx="66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Conector recto 15">
            <a:extLst>
              <a:ext uri="{FF2B5EF4-FFF2-40B4-BE49-F238E27FC236}">
                <a16:creationId xmlns:a16="http://schemas.microsoft.com/office/drawing/2014/main" id="{57ED9A1D-DCF7-42AF-813E-4A6022808E2A}"/>
              </a:ext>
            </a:extLst>
          </p:cNvPr>
          <p:cNvSpPr>
            <a:spLocks noGrp="1"/>
          </p:cNvSpPr>
          <p:nvPr/>
        </p:nvSpPr>
        <p:spPr>
          <a:xfrm>
            <a:off x="6019800" y="2209800"/>
            <a:ext cx="2190750" cy="0"/>
          </a:xfrm>
          <a:prstGeom prst="line">
            <a:avLst/>
          </a:prstGeom>
          <a:noFill/>
          <a:ln w="1905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FF059F8-5B2B-4066-8A5E-8FF5F1F6C631}"/>
              </a:ext>
            </a:extLst>
          </p:cNvPr>
          <p:cNvSpPr>
            <a:spLocks noGrp="1"/>
          </p:cNvSpPr>
          <p:nvPr/>
        </p:nvSpPr>
        <p:spPr>
          <a:xfrm>
            <a:off x="6019800" y="23812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ALERTAR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9DA7A8F-9E98-4CE9-BCE9-2BF77FA88C33}"/>
              </a:ext>
            </a:extLst>
          </p:cNvPr>
          <p:cNvSpPr>
            <a:spLocks noGrp="1"/>
          </p:cNvSpPr>
          <p:nvPr/>
        </p:nvSpPr>
        <p:spPr>
          <a:xfrm>
            <a:off x="6019800" y="2838450"/>
            <a:ext cx="21907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Vencimientos de 3 h, 72 h y 15 días según clasificación del incidente.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F06E239-9247-4363-A8CF-07F534BEE5D4}"/>
              </a:ext>
            </a:extLst>
          </p:cNvPr>
          <p:cNvSpPr>
            <a:spLocks noGrp="1"/>
          </p:cNvSpPr>
          <p:nvPr/>
        </p:nvSpPr>
        <p:spPr>
          <a:xfrm>
            <a:off x="8724900" y="1619250"/>
            <a:ext cx="66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Conector recto 19">
            <a:extLst>
              <a:ext uri="{FF2B5EF4-FFF2-40B4-BE49-F238E27FC236}">
                <a16:creationId xmlns:a16="http://schemas.microsoft.com/office/drawing/2014/main" id="{1555C2F7-B355-48AA-827F-7893A4AF5102}"/>
              </a:ext>
            </a:extLst>
          </p:cNvPr>
          <p:cNvSpPr>
            <a:spLocks noGrp="1"/>
          </p:cNvSpPr>
          <p:nvPr/>
        </p:nvSpPr>
        <p:spPr>
          <a:xfrm>
            <a:off x="8724900" y="2209800"/>
            <a:ext cx="2190750" cy="0"/>
          </a:xfrm>
          <a:prstGeom prst="line">
            <a:avLst/>
          </a:prstGeom>
          <a:noFill/>
          <a:ln w="1905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A9F2DE8-C457-4CD1-A9C6-4A0E1476B932}"/>
              </a:ext>
            </a:extLst>
          </p:cNvPr>
          <p:cNvSpPr>
            <a:spLocks noGrp="1"/>
          </p:cNvSpPr>
          <p:nvPr/>
        </p:nvSpPr>
        <p:spPr>
          <a:xfrm>
            <a:off x="8724900" y="23812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EVIDENCIAR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8F514E0-65B0-4582-9B55-7EF2D69B6415}"/>
              </a:ext>
            </a:extLst>
          </p:cNvPr>
          <p:cNvSpPr>
            <a:spLocks noGrp="1"/>
          </p:cNvSpPr>
          <p:nvPr/>
        </p:nvSpPr>
        <p:spPr>
          <a:xfrm>
            <a:off x="8724900" y="2838450"/>
            <a:ext cx="21907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Historial auditable para Dirección, revisiones y cumplimiento normativo.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8F0A7D9-1ADE-44C9-AB5C-ACB4428DB774}"/>
              </a:ext>
            </a:extLst>
          </p:cNvPr>
          <p:cNvSpPr>
            <a:spLocks noGrp="1"/>
          </p:cNvSpPr>
          <p:nvPr/>
        </p:nvSpPr>
        <p:spPr>
          <a:xfrm>
            <a:off x="609600" y="4591050"/>
            <a:ext cx="10839450" cy="3810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BFD17147-41E0-42FF-84AC-573F0CF8C08B}"/>
              </a:ext>
            </a:extLst>
          </p:cNvPr>
          <p:cNvSpPr>
            <a:spLocks noGrp="1"/>
          </p:cNvSpPr>
          <p:nvPr/>
        </p:nvSpPr>
        <p:spPr>
          <a:xfrm>
            <a:off x="609600" y="48577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CONFIDENCIALIDAD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EABF2CCB-6786-4E00-81CF-3D565845E8B0}"/>
              </a:ext>
            </a:extLst>
          </p:cNvPr>
          <p:cNvSpPr>
            <a:spLocks noGrp="1"/>
          </p:cNvSpPr>
          <p:nvPr/>
        </p:nvSpPr>
        <p:spPr>
          <a:xfrm>
            <a:off x="3371850" y="48577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INTEGRIDAD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3B314152-46BD-4180-B7C3-52EE1CED0D96}"/>
              </a:ext>
            </a:extLst>
          </p:cNvPr>
          <p:cNvSpPr>
            <a:spLocks noGrp="1"/>
          </p:cNvSpPr>
          <p:nvPr/>
        </p:nvSpPr>
        <p:spPr>
          <a:xfrm>
            <a:off x="5753100" y="48577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AUDITORÍA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F664AAC9-3C52-480F-87A0-0F5BB0DA8EB3}"/>
              </a:ext>
            </a:extLst>
          </p:cNvPr>
          <p:cNvSpPr>
            <a:spLocks noGrp="1"/>
          </p:cNvSpPr>
          <p:nvPr/>
        </p:nvSpPr>
        <p:spPr>
          <a:xfrm>
            <a:off x="8039100" y="48577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DISPONIBILIDAD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DA5A97EE-EA03-4336-987B-2B135E11C25C}"/>
              </a:ext>
            </a:extLst>
          </p:cNvPr>
          <p:cNvSpPr>
            <a:spLocks noGrp="1"/>
          </p:cNvSpPr>
          <p:nvPr/>
        </p:nvSpPr>
        <p:spPr>
          <a:xfrm>
            <a:off x="10001250" y="48577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COMPATIBILIDAD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552443DB-2CC7-4DA6-9EB0-7D58FA138B32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10839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Principios no funcionales que atraviesan todos los módulos</a:t>
            </a:r>
          </a:p>
        </p:txBody>
      </p:sp>
    </p:spTree>
    <p:extLst>
      <p:ext uri="{BB962C8B-B14F-4D97-AF65-F5344CB8AC3E}">
        <p14:creationId xmlns:p14="http://schemas.microsoft.com/office/powerpoint/2010/main" val="1990578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4FEECB49-9996-4CDA-AEF0-2E52A155B8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358FD53-16C8-414D-B3C6-7EFC42937415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OBJETIVOS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B28F9C0-4CE4-4731-B4A5-D8B151B28222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76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028"/>
          </a:bodyPr>
          <a:lstStyle/>
          <a:p>
            <a:pPr algn="l">
              <a:lnSpc>
                <a:spcPct val="94000"/>
              </a:lnSpc>
              <a:buNone/>
              <a:defRPr sz="28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El objetivo traduce cumplimiento en capacidades concretas</a:t>
            </a:r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2BE8D85E-AB08-46C5-A389-309095D6D4CE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0"/>
          </a:xfrm>
          <a:prstGeom prst="line">
            <a:avLst/>
          </a:prstGeom>
          <a:noFill/>
          <a:ln w="9525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E943A25-2722-487C-9BA9-D49482013811}"/>
              </a:ext>
            </a:extLst>
          </p:cNvPr>
          <p:cNvSpPr>
            <a:spLocks noGrp="1"/>
          </p:cNvSpPr>
          <p:nvPr/>
        </p:nvSpPr>
        <p:spPr>
          <a:xfrm>
            <a:off x="609600" y="6562725"/>
            <a:ext cx="723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67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Fuente: Formulación del Proyecto de Título · documento proporcionado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B6A5648-41E4-46AA-891F-ECBAF35C23D2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7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1D9E769-C13B-46F5-A9C5-CE401CE03B09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4400550" cy="3676650"/>
          </a:xfrm>
          <a:prstGeom prst="rect">
            <a:avLst/>
          </a:prstGeom>
          <a:solidFill>
            <a:srgbClr val="171717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DEC4D3B-A628-4BBA-829F-106DB7C36437}"/>
              </a:ext>
            </a:extLst>
          </p:cNvPr>
          <p:cNvSpPr>
            <a:spLocks noGrp="1"/>
          </p:cNvSpPr>
          <p:nvPr/>
        </p:nvSpPr>
        <p:spPr>
          <a:xfrm>
            <a:off x="895350" y="18669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OBJETIVO GENERAL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5BD58-73CB-496C-84A0-7CE51899E584}"/>
              </a:ext>
            </a:extLst>
          </p:cNvPr>
          <p:cNvSpPr>
            <a:spLocks noGrp="1"/>
          </p:cNvSpPr>
          <p:nvPr/>
        </p:nvSpPr>
        <p:spPr>
          <a:xfrm>
            <a:off x="895350" y="2343150"/>
            <a:ext cx="352425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457"/>
          </a:bodyPr>
          <a:lstStyle/>
          <a:p>
            <a:pPr algn="l">
              <a:lnSpc>
                <a:spcPct val="103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Desarrollar un SGSI que permita registrar, medir y visualizar la madurez de controles ISO/IEC 27001 y gestionar incidentes conforme a la Ley 21.663.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3680F29-9651-4D3A-853E-1A14CCAE22FD}"/>
              </a:ext>
            </a:extLst>
          </p:cNvPr>
          <p:cNvSpPr>
            <a:spLocks noGrp="1"/>
          </p:cNvSpPr>
          <p:nvPr/>
        </p:nvSpPr>
        <p:spPr>
          <a:xfrm>
            <a:off x="5524500" y="161925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30F775F-B7BE-4886-A769-9FC94D5DED56}"/>
              </a:ext>
            </a:extLst>
          </p:cNvPr>
          <p:cNvSpPr>
            <a:spLocks noGrp="1"/>
          </p:cNvSpPr>
          <p:nvPr/>
        </p:nvSpPr>
        <p:spPr>
          <a:xfrm>
            <a:off x="6172200" y="161925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Modelar controles y evidencias</a:t>
            </a:r>
          </a:p>
        </p:txBody>
      </p:sp>
      <p:sp>
        <p:nvSpPr>
          <p:cNvPr id="12" name="Conector recto 11">
            <a:extLst>
              <a:ext uri="{FF2B5EF4-FFF2-40B4-BE49-F238E27FC236}">
                <a16:creationId xmlns:a16="http://schemas.microsoft.com/office/drawing/2014/main" id="{6A3B2D6D-5671-4AE1-9F94-04CB95745DD1}"/>
              </a:ext>
            </a:extLst>
          </p:cNvPr>
          <p:cNvSpPr>
            <a:spLocks noGrp="1"/>
          </p:cNvSpPr>
          <p:nvPr/>
        </p:nvSpPr>
        <p:spPr>
          <a:xfrm>
            <a:off x="5524500" y="2066925"/>
            <a:ext cx="5429250" cy="0"/>
          </a:xfrm>
          <a:prstGeom prst="line">
            <a:avLst/>
          </a:prstGeom>
          <a:noFill/>
          <a:ln w="9525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DB7E7EC-CAFB-4DC4-B1D2-F86C7252CCE0}"/>
              </a:ext>
            </a:extLst>
          </p:cNvPr>
          <p:cNvSpPr>
            <a:spLocks noGrp="1"/>
          </p:cNvSpPr>
          <p:nvPr/>
        </p:nvSpPr>
        <p:spPr>
          <a:xfrm>
            <a:off x="5524500" y="2333625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566E281-4BFC-4470-9DB1-54A4CE259D73}"/>
              </a:ext>
            </a:extLst>
          </p:cNvPr>
          <p:cNvSpPr>
            <a:spLocks noGrp="1"/>
          </p:cNvSpPr>
          <p:nvPr/>
        </p:nvSpPr>
        <p:spPr>
          <a:xfrm>
            <a:off x="6172200" y="2333625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Visualizar madurez por dominio</a:t>
            </a:r>
          </a:p>
        </p:txBody>
      </p:sp>
      <p:sp>
        <p:nvSpPr>
          <p:cNvPr id="15" name="Conector recto 14">
            <a:extLst>
              <a:ext uri="{FF2B5EF4-FFF2-40B4-BE49-F238E27FC236}">
                <a16:creationId xmlns:a16="http://schemas.microsoft.com/office/drawing/2014/main" id="{5510C101-1437-420B-9644-04F215A05E34}"/>
              </a:ext>
            </a:extLst>
          </p:cNvPr>
          <p:cNvSpPr>
            <a:spLocks noGrp="1"/>
          </p:cNvSpPr>
          <p:nvPr/>
        </p:nvSpPr>
        <p:spPr>
          <a:xfrm>
            <a:off x="5524500" y="2781300"/>
            <a:ext cx="5429250" cy="0"/>
          </a:xfrm>
          <a:prstGeom prst="line">
            <a:avLst/>
          </a:prstGeom>
          <a:noFill/>
          <a:ln w="9525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BE1BAAC-B70D-46F2-9A6F-96BFA0FDE5D1}"/>
              </a:ext>
            </a:extLst>
          </p:cNvPr>
          <p:cNvSpPr>
            <a:spLocks noGrp="1"/>
          </p:cNvSpPr>
          <p:nvPr/>
        </p:nvSpPr>
        <p:spPr>
          <a:xfrm>
            <a:off x="5524500" y="304800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C387603-97A9-423B-BA7B-0EBEB73C34BF}"/>
              </a:ext>
            </a:extLst>
          </p:cNvPr>
          <p:cNvSpPr>
            <a:spLocks noGrp="1"/>
          </p:cNvSpPr>
          <p:nvPr/>
        </p:nvSpPr>
        <p:spPr>
          <a:xfrm>
            <a:off x="6172200" y="304800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Gestionar incidentes y plazos</a:t>
            </a:r>
          </a:p>
        </p:txBody>
      </p:sp>
      <p:sp>
        <p:nvSpPr>
          <p:cNvPr id="18" name="Conector recto 17">
            <a:extLst>
              <a:ext uri="{FF2B5EF4-FFF2-40B4-BE49-F238E27FC236}">
                <a16:creationId xmlns:a16="http://schemas.microsoft.com/office/drawing/2014/main" id="{FA831FFB-904E-45E5-A2E8-24FBC0A2EC38}"/>
              </a:ext>
            </a:extLst>
          </p:cNvPr>
          <p:cNvSpPr>
            <a:spLocks noGrp="1"/>
          </p:cNvSpPr>
          <p:nvPr/>
        </p:nvSpPr>
        <p:spPr>
          <a:xfrm>
            <a:off x="5524500" y="3495675"/>
            <a:ext cx="5429250" cy="0"/>
          </a:xfrm>
          <a:prstGeom prst="line">
            <a:avLst/>
          </a:prstGeom>
          <a:noFill/>
          <a:ln w="9525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18C2363-1FA3-4D13-A8D0-EBA9A8892093}"/>
              </a:ext>
            </a:extLst>
          </p:cNvPr>
          <p:cNvSpPr>
            <a:spLocks noGrp="1"/>
          </p:cNvSpPr>
          <p:nvPr/>
        </p:nvSpPr>
        <p:spPr>
          <a:xfrm>
            <a:off x="5524500" y="3762375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858CC7D-461E-480C-93A6-7131971FE008}"/>
              </a:ext>
            </a:extLst>
          </p:cNvPr>
          <p:cNvSpPr>
            <a:spLocks noGrp="1"/>
          </p:cNvSpPr>
          <p:nvPr/>
        </p:nvSpPr>
        <p:spPr>
          <a:xfrm>
            <a:off x="6172200" y="3762375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Cubrir terceros y personas</a:t>
            </a:r>
          </a:p>
        </p:txBody>
      </p:sp>
      <p:sp>
        <p:nvSpPr>
          <p:cNvPr id="21" name="Conector recto 20">
            <a:extLst>
              <a:ext uri="{FF2B5EF4-FFF2-40B4-BE49-F238E27FC236}">
                <a16:creationId xmlns:a16="http://schemas.microsoft.com/office/drawing/2014/main" id="{F39FC9C0-4397-444F-9CB5-9A730A59EB91}"/>
              </a:ext>
            </a:extLst>
          </p:cNvPr>
          <p:cNvSpPr>
            <a:spLocks noGrp="1"/>
          </p:cNvSpPr>
          <p:nvPr/>
        </p:nvSpPr>
        <p:spPr>
          <a:xfrm>
            <a:off x="5524500" y="4210050"/>
            <a:ext cx="5429250" cy="0"/>
          </a:xfrm>
          <a:prstGeom prst="line">
            <a:avLst/>
          </a:prstGeom>
          <a:noFill/>
          <a:ln w="9525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7913222-92BB-497B-B0E0-723FAE28E0D4}"/>
              </a:ext>
            </a:extLst>
          </p:cNvPr>
          <p:cNvSpPr>
            <a:spLocks noGrp="1"/>
          </p:cNvSpPr>
          <p:nvPr/>
        </p:nvSpPr>
        <p:spPr>
          <a:xfrm>
            <a:off x="5524500" y="4476750"/>
            <a:ext cx="438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4B0737D-024B-4C18-AF74-001A068DD92D}"/>
              </a:ext>
            </a:extLst>
          </p:cNvPr>
          <p:cNvSpPr>
            <a:spLocks noGrp="1"/>
          </p:cNvSpPr>
          <p:nvPr/>
        </p:nvSpPr>
        <p:spPr>
          <a:xfrm>
            <a:off x="6172200" y="447675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Validar con datos de prueba</a:t>
            </a:r>
          </a:p>
        </p:txBody>
      </p:sp>
      <p:sp>
        <p:nvSpPr>
          <p:cNvPr id="24" name="Conector recto 23">
            <a:extLst>
              <a:ext uri="{FF2B5EF4-FFF2-40B4-BE49-F238E27FC236}">
                <a16:creationId xmlns:a16="http://schemas.microsoft.com/office/drawing/2014/main" id="{8F8E67A1-EE64-4809-A2FE-C4236B615211}"/>
              </a:ext>
            </a:extLst>
          </p:cNvPr>
          <p:cNvSpPr>
            <a:spLocks noGrp="1"/>
          </p:cNvSpPr>
          <p:nvPr/>
        </p:nvSpPr>
        <p:spPr>
          <a:xfrm>
            <a:off x="5524500" y="4924425"/>
            <a:ext cx="5429250" cy="0"/>
          </a:xfrm>
          <a:prstGeom prst="line">
            <a:avLst/>
          </a:prstGeom>
          <a:noFill/>
          <a:ln w="9525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96279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4BD38F29-0364-4A80-8171-2458ED75BC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272EE4E-5053-403C-9854-C27947418FFA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ALCANCE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97D246A-1A3E-44E3-8693-3A593FB6BF4C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76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4000"/>
              </a:lnSpc>
              <a:buNone/>
              <a:defRPr sz="28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El alcance protege el foco del semestre</a:t>
            </a:r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885F6274-99C6-4ADB-BDDE-DB0938473FA4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0"/>
          </a:xfrm>
          <a:prstGeom prst="line">
            <a:avLst/>
          </a:prstGeom>
          <a:noFill/>
          <a:ln w="9525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AC04D6A-DAA1-436F-91DF-29258F230DB0}"/>
              </a:ext>
            </a:extLst>
          </p:cNvPr>
          <p:cNvSpPr>
            <a:spLocks noGrp="1"/>
          </p:cNvSpPr>
          <p:nvPr/>
        </p:nvSpPr>
        <p:spPr>
          <a:xfrm>
            <a:off x="609600" y="6562725"/>
            <a:ext cx="723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67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Fuente: Formulación del Proyecto de Título · documento proporcionado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C97CE41-ECA7-4293-A295-84D494E252B2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7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2F83709-9432-418D-B95D-A8657194E094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57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INCLUYE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B054F73-026A-4B0F-B9F5-F4008C7EE05C}"/>
              </a:ext>
            </a:extLst>
          </p:cNvPr>
          <p:cNvSpPr>
            <a:spLocks noGrp="1"/>
          </p:cNvSpPr>
          <p:nvPr/>
        </p:nvSpPr>
        <p:spPr>
          <a:xfrm>
            <a:off x="609600" y="2133600"/>
            <a:ext cx="47625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 Registro y seguimiento de controles ISO 27001.</a:t>
            </a: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 Evidencia y cálculo de madurez.</a:t>
            </a: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 Incidentes con taxonomía ANCI y cómputo de plazos.</a:t>
            </a: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 Terceros, proveedores y controles de personas.</a:t>
            </a: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 Dashboard y reportes gráficos.</a:t>
            </a:r>
          </a:p>
        </p:txBody>
      </p:sp>
      <p:sp>
        <p:nvSpPr>
          <p:cNvPr id="9" name="Conector recto 8">
            <a:extLst>
              <a:ext uri="{FF2B5EF4-FFF2-40B4-BE49-F238E27FC236}">
                <a16:creationId xmlns:a16="http://schemas.microsoft.com/office/drawing/2014/main" id="{C316430C-29C1-4A1B-9435-F7C9E2B9F545}"/>
              </a:ext>
            </a:extLst>
          </p:cNvPr>
          <p:cNvSpPr>
            <a:spLocks noGrp="1"/>
          </p:cNvSpPr>
          <p:nvPr/>
        </p:nvSpPr>
        <p:spPr>
          <a:xfrm>
            <a:off x="5772150" y="1619250"/>
            <a:ext cx="0" cy="3581400"/>
          </a:xfrm>
          <a:prstGeom prst="line">
            <a:avLst/>
          </a:prstGeom>
          <a:noFill/>
          <a:ln w="19050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2A759FB-DBB2-4049-A4F4-4534588320B7}"/>
              </a:ext>
            </a:extLst>
          </p:cNvPr>
          <p:cNvSpPr>
            <a:spLocks noGrp="1"/>
          </p:cNvSpPr>
          <p:nvPr/>
        </p:nvSpPr>
        <p:spPr>
          <a:xfrm>
            <a:off x="6191250" y="165735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NO INCLUYE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B4E50D2-54D5-46A2-888D-33DA9BD6CF09}"/>
              </a:ext>
            </a:extLst>
          </p:cNvPr>
          <p:cNvSpPr>
            <a:spLocks noGrp="1"/>
          </p:cNvSpPr>
          <p:nvPr/>
        </p:nvSpPr>
        <p:spPr>
          <a:xfrm>
            <a:off x="6191250" y="2133600"/>
            <a:ext cx="49530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 Integración en tiempo real con Trakcare.</a:t>
            </a: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 Reporte directo mediante API a la plataforma ANCI.</a:t>
            </a:r>
          </a:p>
          <a:p>
            <a:pPr algn="l">
              <a:lnSpc>
                <a:spcPct val="118000"/>
              </a:lnSpc>
              <a:buNone/>
              <a:defRPr sz="15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 Certificación formal ISO/IEC 27001 del hospital.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C57B973-2ADE-4CE5-A67C-AFD1E4EAF54D}"/>
              </a:ext>
            </a:extLst>
          </p:cNvPr>
          <p:cNvSpPr>
            <a:spLocks noGrp="1"/>
          </p:cNvSpPr>
          <p:nvPr/>
        </p:nvSpPr>
        <p:spPr>
          <a:xfrm>
            <a:off x="6191250" y="4171950"/>
            <a:ext cx="4953000" cy="3810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CDFC595-F2C2-47A9-9056-415B042D1DDE}"/>
              </a:ext>
            </a:extLst>
          </p:cNvPr>
          <p:cNvSpPr>
            <a:spLocks noGrp="1"/>
          </p:cNvSpPr>
          <p:nvPr/>
        </p:nvSpPr>
        <p:spPr>
          <a:xfrm>
            <a:off x="6191250" y="44196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CONDICIONES DE DISEÑO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48CFF0C-36B9-41C3-BDAD-01A5908FC440}"/>
              </a:ext>
            </a:extLst>
          </p:cNvPr>
          <p:cNvSpPr>
            <a:spLocks noGrp="1"/>
          </p:cNvSpPr>
          <p:nvPr/>
        </p:nvSpPr>
        <p:spPr>
          <a:xfrm>
            <a:off x="6191250" y="4800600"/>
            <a:ext cx="4953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Plazo académico, validación con el mandante y uso exclusivo de datos ficticios o anonimizados en pruebas.</a:t>
            </a:r>
          </a:p>
        </p:txBody>
      </p:sp>
    </p:spTree>
    <p:extLst>
      <p:ext uri="{BB962C8B-B14F-4D97-AF65-F5344CB8AC3E}">
        <p14:creationId xmlns:p14="http://schemas.microsoft.com/office/powerpoint/2010/main" val="1917379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6F323561-32DD-47C0-899F-DAA831402A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1781B2E-F292-4788-A643-52F7443EF3C3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ARQUITECTURA TI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0CCB3A3-2449-4CA6-B565-D834D0513705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76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080"/>
          </a:bodyPr>
          <a:lstStyle/>
          <a:p>
            <a:pPr algn="l">
              <a:lnSpc>
                <a:spcPct val="94000"/>
              </a:lnSpc>
              <a:buNone/>
              <a:defRPr sz="28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Una arquitectura modular de tres capas reduce complejidad</a:t>
            </a:r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FF8B8384-5444-46B9-8625-B7EF906DEE3A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0"/>
          </a:xfrm>
          <a:prstGeom prst="line">
            <a:avLst/>
          </a:prstGeom>
          <a:noFill/>
          <a:ln w="9525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D0E8D2B-B42E-4BC7-AB89-732CE5F2EB7E}"/>
              </a:ext>
            </a:extLst>
          </p:cNvPr>
          <p:cNvSpPr>
            <a:spLocks noGrp="1"/>
          </p:cNvSpPr>
          <p:nvPr/>
        </p:nvSpPr>
        <p:spPr>
          <a:xfrm>
            <a:off x="609600" y="6562725"/>
            <a:ext cx="723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67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Fuente: Formulación del Proyecto de Título · documento proporcionado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91AA99E-D7D8-4B19-BA3F-161068A5C89E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7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capa-presentacion">
            <a:extLst>
              <a:ext uri="{FF2B5EF4-FFF2-40B4-BE49-F238E27FC236}">
                <a16:creationId xmlns:a16="http://schemas.microsoft.com/office/drawing/2014/main" id="{0FC07F1B-8095-4D70-93C7-342F4106312B}"/>
              </a:ext>
            </a:extLst>
          </p:cNvPr>
          <p:cNvSpPr>
            <a:spLocks noGrp="1"/>
          </p:cNvSpPr>
          <p:nvPr/>
        </p:nvSpPr>
        <p:spPr>
          <a:xfrm>
            <a:off x="876300" y="1619250"/>
            <a:ext cx="104394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B4C9D2C-6267-460B-BCE2-48898E72E39B}"/>
              </a:ext>
            </a:extLst>
          </p:cNvPr>
          <p:cNvSpPr>
            <a:spLocks noGrp="1"/>
          </p:cNvSpPr>
          <p:nvPr/>
        </p:nvSpPr>
        <p:spPr>
          <a:xfrm>
            <a:off x="1104900" y="18478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63C72F4-62A5-4158-ABE3-7AD0ABC44E44}"/>
              </a:ext>
            </a:extLst>
          </p:cNvPr>
          <p:cNvSpPr>
            <a:spLocks noGrp="1"/>
          </p:cNvSpPr>
          <p:nvPr/>
        </p:nvSpPr>
        <p:spPr>
          <a:xfrm>
            <a:off x="1676400" y="18097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PRESENTACIÓN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DE2E592-5504-4C55-8039-801A75B4CCB7}"/>
              </a:ext>
            </a:extLst>
          </p:cNvPr>
          <p:cNvSpPr>
            <a:spLocks noGrp="1"/>
          </p:cNvSpPr>
          <p:nvPr/>
        </p:nvSpPr>
        <p:spPr>
          <a:xfrm>
            <a:off x="4000500" y="1828800"/>
            <a:ext cx="628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SPA web · dashboard · formularios</a:t>
            </a:r>
          </a:p>
        </p:txBody>
      </p:sp>
      <p:sp>
        <p:nvSpPr>
          <p:cNvPr id="11" name="capa-aplicacion">
            <a:extLst>
              <a:ext uri="{FF2B5EF4-FFF2-40B4-BE49-F238E27FC236}">
                <a16:creationId xmlns:a16="http://schemas.microsoft.com/office/drawing/2014/main" id="{9A63F159-08E5-4CDC-B6BB-FD83A5DF1605}"/>
              </a:ext>
            </a:extLst>
          </p:cNvPr>
          <p:cNvSpPr>
            <a:spLocks noGrp="1"/>
          </p:cNvSpPr>
          <p:nvPr/>
        </p:nvSpPr>
        <p:spPr>
          <a:xfrm>
            <a:off x="876300" y="2990850"/>
            <a:ext cx="10439400" cy="1257300"/>
          </a:xfrm>
          <a:prstGeom prst="rect">
            <a:avLst/>
          </a:prstGeom>
          <a:solidFill>
            <a:srgbClr val="171717"/>
          </a:solidFill>
          <a:ln w="9525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830D611-B0B7-48CD-B96E-09BD7A93BA00}"/>
              </a:ext>
            </a:extLst>
          </p:cNvPr>
          <p:cNvSpPr>
            <a:spLocks noGrp="1"/>
          </p:cNvSpPr>
          <p:nvPr/>
        </p:nvSpPr>
        <p:spPr>
          <a:xfrm>
            <a:off x="1104900" y="32385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FAC90E1-62B5-46BB-B58A-8DFD4EF6C874}"/>
              </a:ext>
            </a:extLst>
          </p:cNvPr>
          <p:cNvSpPr>
            <a:spLocks noGrp="1"/>
          </p:cNvSpPr>
          <p:nvPr/>
        </p:nvSpPr>
        <p:spPr>
          <a:xfrm>
            <a:off x="1676400" y="3181350"/>
            <a:ext cx="3390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548"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 REST / LÓGICA DE NEGOCIO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532F622-2284-4728-96DC-809DC954547F}"/>
              </a:ext>
            </a:extLst>
          </p:cNvPr>
          <p:cNvSpPr>
            <a:spLocks noGrp="1"/>
          </p:cNvSpPr>
          <p:nvPr/>
        </p:nvSpPr>
        <p:spPr>
          <a:xfrm>
            <a:off x="1676400" y="3695700"/>
            <a:ext cx="895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RBAC   |   Controles   |   Madurez   |   Incidentes   |   Terceros   |   Personas   |   Reportería</a:t>
            </a:r>
          </a:p>
        </p:txBody>
      </p:sp>
      <p:sp>
        <p:nvSpPr>
          <p:cNvPr id="15" name="capa-datos">
            <a:extLst>
              <a:ext uri="{FF2B5EF4-FFF2-40B4-BE49-F238E27FC236}">
                <a16:creationId xmlns:a16="http://schemas.microsoft.com/office/drawing/2014/main" id="{938E55A1-25B4-45BD-98A7-00C9BE029138}"/>
              </a:ext>
            </a:extLst>
          </p:cNvPr>
          <p:cNvSpPr>
            <a:spLocks noGrp="1"/>
          </p:cNvSpPr>
          <p:nvPr/>
        </p:nvSpPr>
        <p:spPr>
          <a:xfrm>
            <a:off x="876300" y="4762500"/>
            <a:ext cx="104394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90A8B2A-955A-4B68-8A48-11F940116B40}"/>
              </a:ext>
            </a:extLst>
          </p:cNvPr>
          <p:cNvSpPr>
            <a:spLocks noGrp="1"/>
          </p:cNvSpPr>
          <p:nvPr/>
        </p:nvSpPr>
        <p:spPr>
          <a:xfrm>
            <a:off x="1104900" y="49911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B829B6F-7806-41B0-B902-07C329ACDD29}"/>
              </a:ext>
            </a:extLst>
          </p:cNvPr>
          <p:cNvSpPr>
            <a:spLocks noGrp="1"/>
          </p:cNvSpPr>
          <p:nvPr/>
        </p:nvSpPr>
        <p:spPr>
          <a:xfrm>
            <a:off x="1676400" y="49530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DATOS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9625300-9F21-4945-8F03-F3ED5703B2DF}"/>
              </a:ext>
            </a:extLst>
          </p:cNvPr>
          <p:cNvSpPr>
            <a:spLocks noGrp="1"/>
          </p:cNvSpPr>
          <p:nvPr/>
        </p:nvSpPr>
        <p:spPr>
          <a:xfrm>
            <a:off x="4000500" y="4972050"/>
            <a:ext cx="628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Base relacional  +  repositorio de evidencias</a:t>
            </a:r>
          </a:p>
        </p:txBody>
      </p:sp>
      <p:cxnSp>
        <p:nvCxnSpPr>
          <p:cNvPr id="19" name="Conector recto de flecha 18"/>
          <p:cNvCxnSpPr>
            <a:stCxn id="7" idx="2"/>
            <a:endCxn id="11" idx="0"/>
          </p:cNvCxnSpPr>
          <p:nvPr/>
        </p:nvCxnSpPr>
        <p:spPr>
          <a:xfrm>
            <a:off x="6096000" y="2476500"/>
            <a:ext cx="0" cy="514350"/>
          </a:xfrm>
          <a:prstGeom prst="straightConnector1">
            <a:avLst/>
          </a:prstGeom>
          <a:ln w="28575">
            <a:solidFill>
              <a:srgbClr val="D71920"/>
            </a:solidFill>
            <a:prstDash val="solid"/>
            <a:tailEnd type="triangle" w="sm" len="sm"/>
          </a:ln>
        </p:spPr>
      </p:cxnSp>
      <p:cxnSp>
        <p:nvCxnSpPr>
          <p:cNvPr id="20" name="Conector recto de flecha 19"/>
          <p:cNvCxnSpPr>
            <a:stCxn id="11" idx="2"/>
            <a:endCxn id="15" idx="0"/>
          </p:cNvCxnSpPr>
          <p:nvPr/>
        </p:nvCxnSpPr>
        <p:spPr>
          <a:xfrm>
            <a:off x="6096000" y="4248150"/>
            <a:ext cx="0" cy="514350"/>
          </a:xfrm>
          <a:prstGeom prst="straightConnector1">
            <a:avLst/>
          </a:prstGeom>
          <a:ln w="28575">
            <a:solidFill>
              <a:srgbClr val="D71920"/>
            </a:solidFill>
            <a:prstDash val="solid"/>
            <a:tailEnd type="triangle" w="sm" len="sm"/>
          </a:ln>
        </p:spPr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914B64A7-E726-4BA5-A285-721EB8A4CCFB}"/>
              </a:ext>
            </a:extLst>
          </p:cNvPr>
          <p:cNvSpPr>
            <a:spLocks noGrp="1"/>
          </p:cNvSpPr>
          <p:nvPr/>
        </p:nvSpPr>
        <p:spPr>
          <a:xfrm>
            <a:off x="876300" y="5886450"/>
            <a:ext cx="1043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9E11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9E1118"/>
                </a:solidFill>
                <a:latin typeface="Arial"/>
                <a:ea typeface="Arial"/>
                <a:cs typeface="Arial"/>
              </a:rPr>
              <a:t>Monolito modular: separación clara de responsabilidades sin el costo operativo de microservicios.</a:t>
            </a:r>
          </a:p>
        </p:txBody>
      </p:sp>
    </p:spTree>
    <p:extLst>
      <p:ext uri="{BB962C8B-B14F-4D97-AF65-F5344CB8AC3E}">
        <p14:creationId xmlns:p14="http://schemas.microsoft.com/office/powerpoint/2010/main" val="1671530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ángulo 25">
            <a:extLst>
              <a:ext uri="{FF2B5EF4-FFF2-40B4-BE49-F238E27FC236}">
                <a16:creationId xmlns:a16="http://schemas.microsoft.com/office/drawing/2014/main" id="{0DF231F9-C408-4322-A64A-BA914DE632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0A6BF0F-3D79-473E-A019-3B8F9755363E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SEGURIDAD Y DESPLIEGUE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A612244-B686-418A-BA41-4E7CD499A89C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76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4000"/>
              </a:lnSpc>
              <a:buNone/>
              <a:defRPr sz="28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La seguridad está incorporada desde el diseño</a:t>
            </a:r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B2FA1213-6C03-442F-B32F-5D06056BE5CE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0"/>
          </a:xfrm>
          <a:prstGeom prst="line">
            <a:avLst/>
          </a:prstGeom>
          <a:noFill/>
          <a:ln w="9525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20F614D-5DC9-40CE-873E-3DD92891B022}"/>
              </a:ext>
            </a:extLst>
          </p:cNvPr>
          <p:cNvSpPr>
            <a:spLocks noGrp="1"/>
          </p:cNvSpPr>
          <p:nvPr/>
        </p:nvSpPr>
        <p:spPr>
          <a:xfrm>
            <a:off x="609600" y="6562725"/>
            <a:ext cx="723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67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Fuente: Formulación del Proyecto de Título · documento proporcionado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6506F99-DDA6-416A-9B43-C9CAF08A4702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7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E4DFA91-57C8-43E3-A6D6-88F966D830C0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9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RBAC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88BB469-80C2-4CC9-B33F-182991AA78E4}"/>
              </a:ext>
            </a:extLst>
          </p:cNvPr>
          <p:cNvSpPr>
            <a:spLocks noGrp="1"/>
          </p:cNvSpPr>
          <p:nvPr/>
        </p:nvSpPr>
        <p:spPr>
          <a:xfrm>
            <a:off x="609600" y="2238375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Roles diferenciados</a:t>
            </a:r>
          </a:p>
        </p:txBody>
      </p:sp>
      <p:sp>
        <p:nvSpPr>
          <p:cNvPr id="9" name="Conector recto 8">
            <a:extLst>
              <a:ext uri="{FF2B5EF4-FFF2-40B4-BE49-F238E27FC236}">
                <a16:creationId xmlns:a16="http://schemas.microsoft.com/office/drawing/2014/main" id="{305B5A64-2E22-4499-8D8F-A09D14D545FB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2190750" cy="0"/>
          </a:xfrm>
          <a:prstGeom prst="line">
            <a:avLst/>
          </a:prstGeom>
          <a:noFill/>
          <a:ln w="19050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16130D9-142A-4591-99F7-806E4D2C9A4B}"/>
              </a:ext>
            </a:extLst>
          </p:cNvPr>
          <p:cNvSpPr>
            <a:spLocks noGrp="1"/>
          </p:cNvSpPr>
          <p:nvPr/>
        </p:nvSpPr>
        <p:spPr>
          <a:xfrm>
            <a:off x="3181350" y="1657350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9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TLS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BF319FB-2B39-4C05-A313-EAB1404C7F8A}"/>
              </a:ext>
            </a:extLst>
          </p:cNvPr>
          <p:cNvSpPr>
            <a:spLocks noGrp="1"/>
          </p:cNvSpPr>
          <p:nvPr/>
        </p:nvSpPr>
        <p:spPr>
          <a:xfrm>
            <a:off x="3181350" y="2238375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Cifrado en tránsito</a:t>
            </a:r>
          </a:p>
        </p:txBody>
      </p:sp>
      <p:sp>
        <p:nvSpPr>
          <p:cNvPr id="12" name="Conector recto 11">
            <a:extLst>
              <a:ext uri="{FF2B5EF4-FFF2-40B4-BE49-F238E27FC236}">
                <a16:creationId xmlns:a16="http://schemas.microsoft.com/office/drawing/2014/main" id="{71280F3C-7A83-44FD-92E8-67B182749AAD}"/>
              </a:ext>
            </a:extLst>
          </p:cNvPr>
          <p:cNvSpPr>
            <a:spLocks noGrp="1"/>
          </p:cNvSpPr>
          <p:nvPr/>
        </p:nvSpPr>
        <p:spPr>
          <a:xfrm>
            <a:off x="3181350" y="2667000"/>
            <a:ext cx="2190750" cy="0"/>
          </a:xfrm>
          <a:prstGeom prst="line">
            <a:avLst/>
          </a:prstGeom>
          <a:noFill/>
          <a:ln w="19050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3B8F64D-A2AF-49B0-88E2-FBEF8CB057CA}"/>
              </a:ext>
            </a:extLst>
          </p:cNvPr>
          <p:cNvSpPr>
            <a:spLocks noGrp="1"/>
          </p:cNvSpPr>
          <p:nvPr/>
        </p:nvSpPr>
        <p:spPr>
          <a:xfrm>
            <a:off x="5753100" y="1657350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1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CIFRADO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6396213-E738-472C-91DF-28980F02601B}"/>
              </a:ext>
            </a:extLst>
          </p:cNvPr>
          <p:cNvSpPr>
            <a:spLocks noGrp="1"/>
          </p:cNvSpPr>
          <p:nvPr/>
        </p:nvSpPr>
        <p:spPr>
          <a:xfrm>
            <a:off x="5753100" y="2238375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Evidencia en reposo</a:t>
            </a:r>
          </a:p>
        </p:txBody>
      </p:sp>
      <p:sp>
        <p:nvSpPr>
          <p:cNvPr id="15" name="Conector recto 14">
            <a:extLst>
              <a:ext uri="{FF2B5EF4-FFF2-40B4-BE49-F238E27FC236}">
                <a16:creationId xmlns:a16="http://schemas.microsoft.com/office/drawing/2014/main" id="{C8D749DC-921A-4D25-A69F-8749A8F644DF}"/>
              </a:ext>
            </a:extLst>
          </p:cNvPr>
          <p:cNvSpPr>
            <a:spLocks noGrp="1"/>
          </p:cNvSpPr>
          <p:nvPr/>
        </p:nvSpPr>
        <p:spPr>
          <a:xfrm>
            <a:off x="5753100" y="2667000"/>
            <a:ext cx="2190750" cy="0"/>
          </a:xfrm>
          <a:prstGeom prst="line">
            <a:avLst/>
          </a:prstGeom>
          <a:noFill/>
          <a:ln w="19050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0266287-2F17-4574-9687-354B5C24A9E3}"/>
              </a:ext>
            </a:extLst>
          </p:cNvPr>
          <p:cNvSpPr>
            <a:spLocks noGrp="1"/>
          </p:cNvSpPr>
          <p:nvPr/>
        </p:nvSpPr>
        <p:spPr>
          <a:xfrm>
            <a:off x="8324850" y="1657350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175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AUDITORÍA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0158E9E-6624-43DC-9D6C-B72E7A1F1868}"/>
              </a:ext>
            </a:extLst>
          </p:cNvPr>
          <p:cNvSpPr>
            <a:spLocks noGrp="1"/>
          </p:cNvSpPr>
          <p:nvPr/>
        </p:nvSpPr>
        <p:spPr>
          <a:xfrm>
            <a:off x="8324850" y="2238375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Registro inmutable</a:t>
            </a:r>
          </a:p>
        </p:txBody>
      </p:sp>
      <p:sp>
        <p:nvSpPr>
          <p:cNvPr id="18" name="Conector recto 17">
            <a:extLst>
              <a:ext uri="{FF2B5EF4-FFF2-40B4-BE49-F238E27FC236}">
                <a16:creationId xmlns:a16="http://schemas.microsoft.com/office/drawing/2014/main" id="{E3224502-C5B1-4151-8798-4DB4320D564C}"/>
              </a:ext>
            </a:extLst>
          </p:cNvPr>
          <p:cNvSpPr>
            <a:spLocks noGrp="1"/>
          </p:cNvSpPr>
          <p:nvPr/>
        </p:nvSpPr>
        <p:spPr>
          <a:xfrm>
            <a:off x="8324850" y="2667000"/>
            <a:ext cx="2190750" cy="0"/>
          </a:xfrm>
          <a:prstGeom prst="line">
            <a:avLst/>
          </a:prstGeom>
          <a:noFill/>
          <a:ln w="19050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7ED0A2C-BCB8-4CF2-94A5-6A89C1FE098E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10839450" cy="3810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6CD1EBB-ECCA-46EA-8E2A-E56208E01A7B}"/>
              </a:ext>
            </a:extLst>
          </p:cNvPr>
          <p:cNvSpPr>
            <a:spLocks noGrp="1"/>
          </p:cNvSpPr>
          <p:nvPr/>
        </p:nvSpPr>
        <p:spPr>
          <a:xfrm>
            <a:off x="609600" y="3448050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DECISIÓN DE INTEGRACIÓN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D25EAE8-4DF2-42CE-A027-717B0AFE6EB7}"/>
              </a:ext>
            </a:extLst>
          </p:cNvPr>
          <p:cNvSpPr>
            <a:spLocks noGrp="1"/>
          </p:cNvSpPr>
          <p:nvPr/>
        </p:nvSpPr>
        <p:spPr>
          <a:xfrm>
            <a:off x="609600" y="3829050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482" lnSpcReduction="20000"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Sin conexión en tiempo real con Trakcare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BAA1B52-DB46-4385-902D-37DDB94F9C7C}"/>
              </a:ext>
            </a:extLst>
          </p:cNvPr>
          <p:cNvSpPr>
            <a:spLocks noGrp="1"/>
          </p:cNvSpPr>
          <p:nvPr/>
        </p:nvSpPr>
        <p:spPr>
          <a:xfrm>
            <a:off x="609600" y="4438650"/>
            <a:ext cx="4953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El SGSI es una herramienta de gobierno y apoyo, no un sistema asistencial. Evitar la integración directa reduce riesgo técnico y regulatorio.</a:t>
            </a:r>
          </a:p>
        </p:txBody>
      </p:sp>
      <p:sp>
        <p:nvSpPr>
          <p:cNvPr id="23" name="Conector recto 22">
            <a:extLst>
              <a:ext uri="{FF2B5EF4-FFF2-40B4-BE49-F238E27FC236}">
                <a16:creationId xmlns:a16="http://schemas.microsoft.com/office/drawing/2014/main" id="{26B15842-10DE-47AF-A06F-E56733447129}"/>
              </a:ext>
            </a:extLst>
          </p:cNvPr>
          <p:cNvSpPr>
            <a:spLocks noGrp="1"/>
          </p:cNvSpPr>
          <p:nvPr/>
        </p:nvSpPr>
        <p:spPr>
          <a:xfrm>
            <a:off x="5924550" y="3429000"/>
            <a:ext cx="0" cy="2095500"/>
          </a:xfrm>
          <a:prstGeom prst="line">
            <a:avLst/>
          </a:prstGeom>
          <a:noFill/>
          <a:ln w="19050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83EE72E8-EF4B-4CB8-8094-E5DFD991647F}"/>
              </a:ext>
            </a:extLst>
          </p:cNvPr>
          <p:cNvSpPr>
            <a:spLocks noGrp="1"/>
          </p:cNvSpPr>
          <p:nvPr/>
        </p:nvSpPr>
        <p:spPr>
          <a:xfrm>
            <a:off x="6381750" y="3448050"/>
            <a:ext cx="428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Interacción asíncrona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CA8DF6D6-463E-44C2-B2B1-CC0B09440047}"/>
              </a:ext>
            </a:extLst>
          </p:cNvPr>
          <p:cNvSpPr>
            <a:spLocks noGrp="1"/>
          </p:cNvSpPr>
          <p:nvPr/>
        </p:nvSpPr>
        <p:spPr>
          <a:xfrm>
            <a:off x="6381750" y="3943350"/>
            <a:ext cx="466725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 Referencia descriptiva del sistema afectado.</a:t>
            </a:r>
          </a:p>
          <a:p>
            <a:pPr algn="l">
              <a:lnSpc>
                <a:spcPct val="118000"/>
              </a:lnSpc>
              <a:buNone/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 Carga manual de actas, certificados y evidencia.</a:t>
            </a:r>
          </a:p>
          <a:p>
            <a:pPr algn="l">
              <a:lnSpc>
                <a:spcPct val="118000"/>
              </a:lnSpc>
              <a:buNone/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 Exportación de reportes para gestión y auditoría.</a:t>
            </a:r>
          </a:p>
          <a:p>
            <a:pPr algn="l">
              <a:lnSpc>
                <a:spcPct val="118000"/>
              </a:lnSpc>
              <a:buNone/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•  Despliegue on-premise o nube privada.</a:t>
            </a:r>
          </a:p>
        </p:txBody>
      </p:sp>
    </p:spTree>
    <p:extLst>
      <p:ext uri="{BB962C8B-B14F-4D97-AF65-F5344CB8AC3E}">
        <p14:creationId xmlns:p14="http://schemas.microsoft.com/office/powerpoint/2010/main" val="1355504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ángulo 35">
            <a:extLst>
              <a:ext uri="{FF2B5EF4-FFF2-40B4-BE49-F238E27FC236}">
                <a16:creationId xmlns:a16="http://schemas.microsoft.com/office/drawing/2014/main" id="{CAC1D30C-7C96-4FCF-83AB-35E09B5008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69D5023-5A12-4B55-AC19-50EE3C0DAF2A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ARQUITECTURA EMPRESARIAL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0773CAB-0457-49AA-AD75-B8A67B13F7D1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76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4000"/>
              </a:lnSpc>
              <a:buNone/>
              <a:defRPr sz="28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La solución encaja sin alterar la operación clínica</a:t>
            </a:r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9041E565-70DE-47D0-838A-FD57B4406EC0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0"/>
          </a:xfrm>
          <a:prstGeom prst="line">
            <a:avLst/>
          </a:prstGeom>
          <a:noFill/>
          <a:ln w="9525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0635A6F-6B0B-4DC0-A98C-E676651328C0}"/>
              </a:ext>
            </a:extLst>
          </p:cNvPr>
          <p:cNvSpPr>
            <a:spLocks noGrp="1"/>
          </p:cNvSpPr>
          <p:nvPr/>
        </p:nvSpPr>
        <p:spPr>
          <a:xfrm>
            <a:off x="609600" y="6562725"/>
            <a:ext cx="723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67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Fuente: Formulación del Proyecto de Título · documento proporcionado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3613A3C-108D-4F54-94A3-FC64C8938E67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7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65DA0FC-E251-4B9A-9C60-85592B36E59A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2190750" cy="9525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53D2A80-4263-4F53-8E14-3AF1A58B7459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NEGOCIO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2B1F651-134A-4DBA-A090-B26409322E02}"/>
              </a:ext>
            </a:extLst>
          </p:cNvPr>
          <p:cNvSpPr>
            <a:spLocks noGrp="1"/>
          </p:cNvSpPr>
          <p:nvPr/>
        </p:nvSpPr>
        <p:spPr>
          <a:xfrm>
            <a:off x="609600" y="2533650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6262"/>
                </a:solidFill>
                <a:latin typeface="Arial"/>
                <a:ea typeface="Arial"/>
                <a:cs typeface="Arial"/>
              </a:rPr>
              <a:t>HOY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1C78FF8-5756-48E6-A659-1D79607F2290}"/>
              </a:ext>
            </a:extLst>
          </p:cNvPr>
          <p:cNvSpPr>
            <a:spLocks noGrp="1"/>
          </p:cNvSpPr>
          <p:nvPr/>
        </p:nvSpPr>
        <p:spPr>
          <a:xfrm>
            <a:off x="609600" y="2819400"/>
            <a:ext cx="2190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Cumplimiento y gestión de seguridad</a:t>
            </a:r>
          </a:p>
        </p:txBody>
      </p:sp>
      <p:sp>
        <p:nvSpPr>
          <p:cNvPr id="11" name="Conector recto 10">
            <a:extLst>
              <a:ext uri="{FF2B5EF4-FFF2-40B4-BE49-F238E27FC236}">
                <a16:creationId xmlns:a16="http://schemas.microsoft.com/office/drawing/2014/main" id="{014720AD-DBB5-4AFE-A3AC-498C3ADBD11E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2190750" cy="0"/>
          </a:xfrm>
          <a:prstGeom prst="line">
            <a:avLst/>
          </a:prstGeom>
          <a:noFill/>
          <a:ln w="9525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4F8FF19-ABC5-4BF4-95DD-548DFA057C96}"/>
              </a:ext>
            </a:extLst>
          </p:cNvPr>
          <p:cNvSpPr>
            <a:spLocks noGrp="1"/>
          </p:cNvSpPr>
          <p:nvPr/>
        </p:nvSpPr>
        <p:spPr>
          <a:xfrm>
            <a:off x="609600" y="3962400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6262"/>
                </a:solidFill>
                <a:latin typeface="Arial"/>
                <a:ea typeface="Arial"/>
                <a:cs typeface="Arial"/>
              </a:rPr>
              <a:t>CON EL PROYECTO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09203F5-D4FA-4F30-A920-05D8281C5BCA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2190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4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Objetivos del SGSI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1EE6CF9-A138-488B-8A5D-9E183EBA23A1}"/>
              </a:ext>
            </a:extLst>
          </p:cNvPr>
          <p:cNvSpPr>
            <a:spLocks noGrp="1"/>
          </p:cNvSpPr>
          <p:nvPr/>
        </p:nvSpPr>
        <p:spPr>
          <a:xfrm>
            <a:off x="3314700" y="1619250"/>
            <a:ext cx="2190750" cy="95250"/>
          </a:xfrm>
          <a:prstGeom prst="rect">
            <a:avLst/>
          </a:prstGeom>
          <a:solidFill>
            <a:srgbClr val="171717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72CCE8D-1C4D-42A0-8CFF-F19C6047AEF1}"/>
              </a:ext>
            </a:extLst>
          </p:cNvPr>
          <p:cNvSpPr>
            <a:spLocks noGrp="1"/>
          </p:cNvSpPr>
          <p:nvPr/>
        </p:nvSpPr>
        <p:spPr>
          <a:xfrm>
            <a:off x="3314700" y="19240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APLICACIÓN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D1A2C43-7855-4FEC-8CD2-7A22D0941872}"/>
              </a:ext>
            </a:extLst>
          </p:cNvPr>
          <p:cNvSpPr>
            <a:spLocks noGrp="1"/>
          </p:cNvSpPr>
          <p:nvPr/>
        </p:nvSpPr>
        <p:spPr>
          <a:xfrm>
            <a:off x="3314700" y="2533650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6262"/>
                </a:solidFill>
                <a:latin typeface="Arial"/>
                <a:ea typeface="Arial"/>
                <a:cs typeface="Arial"/>
              </a:rPr>
              <a:t>HOY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A49BDA9-2C03-4EBB-8A0E-9E39B565EE11}"/>
              </a:ext>
            </a:extLst>
          </p:cNvPr>
          <p:cNvSpPr>
            <a:spLocks noGrp="1"/>
          </p:cNvSpPr>
          <p:nvPr/>
        </p:nvSpPr>
        <p:spPr>
          <a:xfrm>
            <a:off x="3314700" y="2819400"/>
            <a:ext cx="2190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Roles institucionales existentes</a:t>
            </a:r>
          </a:p>
        </p:txBody>
      </p:sp>
      <p:sp>
        <p:nvSpPr>
          <p:cNvPr id="18" name="Conector recto 17">
            <a:extLst>
              <a:ext uri="{FF2B5EF4-FFF2-40B4-BE49-F238E27FC236}">
                <a16:creationId xmlns:a16="http://schemas.microsoft.com/office/drawing/2014/main" id="{ECDE277E-BAAB-4127-802E-AFD609155483}"/>
              </a:ext>
            </a:extLst>
          </p:cNvPr>
          <p:cNvSpPr>
            <a:spLocks noGrp="1"/>
          </p:cNvSpPr>
          <p:nvPr/>
        </p:nvSpPr>
        <p:spPr>
          <a:xfrm>
            <a:off x="3314700" y="3714750"/>
            <a:ext cx="2190750" cy="0"/>
          </a:xfrm>
          <a:prstGeom prst="line">
            <a:avLst/>
          </a:prstGeom>
          <a:noFill/>
          <a:ln w="9525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EBBB756-1494-4415-8AD5-888C63E4DACB}"/>
              </a:ext>
            </a:extLst>
          </p:cNvPr>
          <p:cNvSpPr>
            <a:spLocks noGrp="1"/>
          </p:cNvSpPr>
          <p:nvPr/>
        </p:nvSpPr>
        <p:spPr>
          <a:xfrm>
            <a:off x="3314700" y="3962400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6262"/>
                </a:solidFill>
                <a:latin typeface="Arial"/>
                <a:ea typeface="Arial"/>
                <a:cs typeface="Arial"/>
              </a:rPr>
              <a:t>CON EL PROYECTO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560745F-7958-4D54-BE43-1CDC5B814B9A}"/>
              </a:ext>
            </a:extLst>
          </p:cNvPr>
          <p:cNvSpPr>
            <a:spLocks noGrp="1"/>
          </p:cNvSpPr>
          <p:nvPr/>
        </p:nvSpPr>
        <p:spPr>
          <a:xfrm>
            <a:off x="3314700" y="4248150"/>
            <a:ext cx="2190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4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Módulos y RBAC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9C90EC61-A0AE-4ADD-BE20-2E29EEC4289C}"/>
              </a:ext>
            </a:extLst>
          </p:cNvPr>
          <p:cNvSpPr>
            <a:spLocks noGrp="1"/>
          </p:cNvSpPr>
          <p:nvPr/>
        </p:nvSpPr>
        <p:spPr>
          <a:xfrm>
            <a:off x="6019800" y="1619250"/>
            <a:ext cx="2190750" cy="95250"/>
          </a:xfrm>
          <a:prstGeom prst="rect">
            <a:avLst/>
          </a:prstGeom>
          <a:solidFill>
            <a:srgbClr val="171717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C8E61BF-12C2-42CA-BBB9-9DFA06677954}"/>
              </a:ext>
            </a:extLst>
          </p:cNvPr>
          <p:cNvSpPr>
            <a:spLocks noGrp="1"/>
          </p:cNvSpPr>
          <p:nvPr/>
        </p:nvSpPr>
        <p:spPr>
          <a:xfrm>
            <a:off x="6019800" y="19240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DATOS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69DA280-389A-45CE-BD8C-C380226F68A0}"/>
              </a:ext>
            </a:extLst>
          </p:cNvPr>
          <p:cNvSpPr>
            <a:spLocks noGrp="1"/>
          </p:cNvSpPr>
          <p:nvPr/>
        </p:nvSpPr>
        <p:spPr>
          <a:xfrm>
            <a:off x="6019800" y="2533650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6262"/>
                </a:solidFill>
                <a:latin typeface="Arial"/>
                <a:ea typeface="Arial"/>
                <a:cs typeface="Arial"/>
              </a:rPr>
              <a:t>HOY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50D95E9F-F495-4E80-820E-B84E7B3CC77E}"/>
              </a:ext>
            </a:extLst>
          </p:cNvPr>
          <p:cNvSpPr>
            <a:spLocks noGrp="1"/>
          </p:cNvSpPr>
          <p:nvPr/>
        </p:nvSpPr>
        <p:spPr>
          <a:xfrm>
            <a:off x="6019800" y="2819400"/>
            <a:ext cx="2190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Evidencia documental</a:t>
            </a:r>
          </a:p>
        </p:txBody>
      </p:sp>
      <p:sp>
        <p:nvSpPr>
          <p:cNvPr id="25" name="Conector recto 24">
            <a:extLst>
              <a:ext uri="{FF2B5EF4-FFF2-40B4-BE49-F238E27FC236}">
                <a16:creationId xmlns:a16="http://schemas.microsoft.com/office/drawing/2014/main" id="{5D25BA6E-9C7A-40E8-A67B-23AE8844AB2C}"/>
              </a:ext>
            </a:extLst>
          </p:cNvPr>
          <p:cNvSpPr>
            <a:spLocks noGrp="1"/>
          </p:cNvSpPr>
          <p:nvPr/>
        </p:nvSpPr>
        <p:spPr>
          <a:xfrm>
            <a:off x="6019800" y="3714750"/>
            <a:ext cx="2190750" cy="0"/>
          </a:xfrm>
          <a:prstGeom prst="line">
            <a:avLst/>
          </a:prstGeom>
          <a:noFill/>
          <a:ln w="9525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68C0FBF-8C62-45A3-B142-50E14ABA65C8}"/>
              </a:ext>
            </a:extLst>
          </p:cNvPr>
          <p:cNvSpPr>
            <a:spLocks noGrp="1"/>
          </p:cNvSpPr>
          <p:nvPr/>
        </p:nvSpPr>
        <p:spPr>
          <a:xfrm>
            <a:off x="6019800" y="3962400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6262"/>
                </a:solidFill>
                <a:latin typeface="Arial"/>
                <a:ea typeface="Arial"/>
                <a:cs typeface="Arial"/>
              </a:rPr>
              <a:t>CON EL PROYECTO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02ECBD59-79A9-42AB-87DA-B46E1DDAEB31}"/>
              </a:ext>
            </a:extLst>
          </p:cNvPr>
          <p:cNvSpPr>
            <a:spLocks noGrp="1"/>
          </p:cNvSpPr>
          <p:nvPr/>
        </p:nvSpPr>
        <p:spPr>
          <a:xfrm>
            <a:off x="6019800" y="4248150"/>
            <a:ext cx="2190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4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Controles, incidentes y terceros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AB6E7C3E-7588-4C96-AF86-D39C801B9924}"/>
              </a:ext>
            </a:extLst>
          </p:cNvPr>
          <p:cNvSpPr>
            <a:spLocks noGrp="1"/>
          </p:cNvSpPr>
          <p:nvPr/>
        </p:nvSpPr>
        <p:spPr>
          <a:xfrm>
            <a:off x="8724900" y="1619250"/>
            <a:ext cx="2190750" cy="95250"/>
          </a:xfrm>
          <a:prstGeom prst="rect">
            <a:avLst/>
          </a:prstGeom>
          <a:solidFill>
            <a:srgbClr val="171717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1A3527DD-3E17-4F58-8BFF-BFC71B445FDC}"/>
              </a:ext>
            </a:extLst>
          </p:cNvPr>
          <p:cNvSpPr>
            <a:spLocks noGrp="1"/>
          </p:cNvSpPr>
          <p:nvPr/>
        </p:nvSpPr>
        <p:spPr>
          <a:xfrm>
            <a:off x="8724900" y="19240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TECNOLOGÍA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DF8ABD14-26EF-4D10-9197-A62ECDA89F6B}"/>
              </a:ext>
            </a:extLst>
          </p:cNvPr>
          <p:cNvSpPr>
            <a:spLocks noGrp="1"/>
          </p:cNvSpPr>
          <p:nvPr/>
        </p:nvSpPr>
        <p:spPr>
          <a:xfrm>
            <a:off x="8724900" y="2533650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6262"/>
                </a:solidFill>
                <a:latin typeface="Arial"/>
                <a:ea typeface="Arial"/>
                <a:cs typeface="Arial"/>
              </a:rPr>
              <a:t>HOY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FA4F3114-0F57-4283-8234-96EF9B34F0AE}"/>
              </a:ext>
            </a:extLst>
          </p:cNvPr>
          <p:cNvSpPr>
            <a:spLocks noGrp="1"/>
          </p:cNvSpPr>
          <p:nvPr/>
        </p:nvSpPr>
        <p:spPr>
          <a:xfrm>
            <a:off x="8724900" y="2819400"/>
            <a:ext cx="2190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Red corporativa y Trakcare</a:t>
            </a:r>
          </a:p>
        </p:txBody>
      </p:sp>
      <p:sp>
        <p:nvSpPr>
          <p:cNvPr id="32" name="Conector recto 31">
            <a:extLst>
              <a:ext uri="{FF2B5EF4-FFF2-40B4-BE49-F238E27FC236}">
                <a16:creationId xmlns:a16="http://schemas.microsoft.com/office/drawing/2014/main" id="{F2CE5A14-9226-4B5B-86A1-FC2BF047A898}"/>
              </a:ext>
            </a:extLst>
          </p:cNvPr>
          <p:cNvSpPr>
            <a:spLocks noGrp="1"/>
          </p:cNvSpPr>
          <p:nvPr/>
        </p:nvSpPr>
        <p:spPr>
          <a:xfrm>
            <a:off x="8724900" y="3714750"/>
            <a:ext cx="2190750" cy="0"/>
          </a:xfrm>
          <a:prstGeom prst="line">
            <a:avLst/>
          </a:prstGeom>
          <a:noFill/>
          <a:ln w="9525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08AAAB9E-0C0B-4E8D-AD5B-00EDD8BF5C2D}"/>
              </a:ext>
            </a:extLst>
          </p:cNvPr>
          <p:cNvSpPr>
            <a:spLocks noGrp="1"/>
          </p:cNvSpPr>
          <p:nvPr/>
        </p:nvSpPr>
        <p:spPr>
          <a:xfrm>
            <a:off x="8724900" y="3962400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6262"/>
                </a:solidFill>
                <a:latin typeface="Arial"/>
                <a:ea typeface="Arial"/>
                <a:cs typeface="Arial"/>
              </a:rPr>
              <a:t>CON EL PROYECTO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7028D417-DDC0-428B-ACD3-2E31A9432F8F}"/>
              </a:ext>
            </a:extLst>
          </p:cNvPr>
          <p:cNvSpPr>
            <a:spLocks noGrp="1"/>
          </p:cNvSpPr>
          <p:nvPr/>
        </p:nvSpPr>
        <p:spPr>
          <a:xfrm>
            <a:off x="8724900" y="4248150"/>
            <a:ext cx="2190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4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Web 3 capas en entorno privado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11A7FD4E-417F-49C3-8D2F-95683C2A2813}"/>
              </a:ext>
            </a:extLst>
          </p:cNvPr>
          <p:cNvSpPr>
            <a:spLocks noGrp="1"/>
          </p:cNvSpPr>
          <p:nvPr/>
        </p:nvSpPr>
        <p:spPr>
          <a:xfrm>
            <a:off x="609600" y="5600700"/>
            <a:ext cx="10839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238"/>
          </a:bodyPr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9E11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9E1118"/>
                </a:solidFill>
                <a:latin typeface="Arial"/>
                <a:ea typeface="Arial"/>
                <a:cs typeface="Arial"/>
              </a:rPr>
              <a:t>Compatibilidad clave: apoya una función transversal existente, replica roles reales y no modifica procesos asistenciales.</a:t>
            </a:r>
          </a:p>
        </p:txBody>
      </p:sp>
    </p:spTree>
    <p:extLst>
      <p:ext uri="{BB962C8B-B14F-4D97-AF65-F5344CB8AC3E}">
        <p14:creationId xmlns:p14="http://schemas.microsoft.com/office/powerpoint/2010/main" val="234276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ángulo 36">
            <a:extLst>
              <a:ext uri="{FF2B5EF4-FFF2-40B4-BE49-F238E27FC236}">
                <a16:creationId xmlns:a16="http://schemas.microsoft.com/office/drawing/2014/main" id="{11C6AE66-6F61-4B2F-BC11-6DDCE6ED2C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4F50585-3C5C-49ED-A848-E74B24782A2F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METODOLOGÍA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9EE0BCB-8159-4E09-AF61-072B3A6081A7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76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28"/>
          </a:bodyPr>
          <a:lstStyle/>
          <a:p>
            <a:pPr algn="l">
              <a:lnSpc>
                <a:spcPct val="94000"/>
              </a:lnSpc>
              <a:buNone/>
              <a:defRPr sz="28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Cinco semanas ordenan formulación, validación y ajuste</a:t>
            </a:r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7852555C-1AC0-4DF9-AD13-FC1DD959D8C3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10972800" cy="0"/>
          </a:xfrm>
          <a:prstGeom prst="line">
            <a:avLst/>
          </a:prstGeom>
          <a:noFill/>
          <a:ln w="9525">
            <a:solidFill>
              <a:srgbClr val="E5E2D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1775D67-4D5A-4BB6-8CE3-D7470DED27E6}"/>
              </a:ext>
            </a:extLst>
          </p:cNvPr>
          <p:cNvSpPr>
            <a:spLocks noGrp="1"/>
          </p:cNvSpPr>
          <p:nvPr/>
        </p:nvSpPr>
        <p:spPr>
          <a:xfrm>
            <a:off x="609600" y="6562725"/>
            <a:ext cx="723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67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Fuente: Formulación del Proyecto de Título · documento proporcionado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9B11696-36CB-4BBD-A9AD-A6E5DF25F368}"/>
              </a:ext>
            </a:extLst>
          </p:cNvPr>
          <p:cNvSpPr>
            <a:spLocks noGrp="1"/>
          </p:cNvSpPr>
          <p:nvPr/>
        </p:nvSpPr>
        <p:spPr>
          <a:xfrm>
            <a:off x="11049000" y="65532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7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D30B423-C8ED-4C38-81F3-A0B4C5ABDF5A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238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SCRUM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7A01A6F-3863-4984-B40B-D48AA8A13140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Validación incremental con el mandante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7A8BEB9-A7C2-4161-A4B0-8978D3E78975}"/>
              </a:ext>
            </a:extLst>
          </p:cNvPr>
          <p:cNvSpPr>
            <a:spLocks noGrp="1"/>
          </p:cNvSpPr>
          <p:nvPr/>
        </p:nvSpPr>
        <p:spPr>
          <a:xfrm>
            <a:off x="609600" y="2895600"/>
            <a:ext cx="3143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834"/>
          </a:bodyPr>
          <a:lstStyle/>
          <a:p>
            <a:pPr algn="l">
              <a:lnSpc>
                <a:spcPct val="110000"/>
              </a:lnSpc>
              <a:buNone/>
              <a:defRPr sz="1425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Cada semana produce una evidencia concreta de avance y permite refinar módulos y requisitos.</a:t>
            </a:r>
          </a:p>
        </p:txBody>
      </p:sp>
      <p:sp>
        <p:nvSpPr>
          <p:cNvPr id="10" name="semana-1">
            <a:extLst>
              <a:ext uri="{FF2B5EF4-FFF2-40B4-BE49-F238E27FC236}">
                <a16:creationId xmlns:a16="http://schemas.microsoft.com/office/drawing/2014/main" id="{BDC2DB99-DD51-4810-8684-97C5DD3757D1}"/>
              </a:ext>
            </a:extLst>
          </p:cNvPr>
          <p:cNvSpPr>
            <a:spLocks noGrp="1"/>
          </p:cNvSpPr>
          <p:nvPr/>
        </p:nvSpPr>
        <p:spPr>
          <a:xfrm>
            <a:off x="4476750" y="2228850"/>
            <a:ext cx="704850" cy="704850"/>
          </a:xfrm>
          <a:prstGeom prst="rect">
            <a:avLst/>
          </a:prstGeom>
          <a:solidFill>
            <a:srgbClr val="171717"/>
          </a:solidFill>
          <a:ln w="9525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A3F417C-7F41-48C0-B2D5-F139889F954A}"/>
              </a:ext>
            </a:extLst>
          </p:cNvPr>
          <p:cNvSpPr>
            <a:spLocks noGrp="1"/>
          </p:cNvSpPr>
          <p:nvPr/>
        </p:nvSpPr>
        <p:spPr>
          <a:xfrm>
            <a:off x="4476750" y="2390775"/>
            <a:ext cx="70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S1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DF6A1C6-A584-4C66-A17E-25EF542290CA}"/>
              </a:ext>
            </a:extLst>
          </p:cNvPr>
          <p:cNvSpPr>
            <a:spLocks noGrp="1"/>
          </p:cNvSpPr>
          <p:nvPr/>
        </p:nvSpPr>
        <p:spPr>
          <a:xfrm>
            <a:off x="4267200" y="3181350"/>
            <a:ext cx="1123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Formulación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5D90E3F-CF1B-4665-8084-A5BFFE95948B}"/>
              </a:ext>
            </a:extLst>
          </p:cNvPr>
          <p:cNvSpPr>
            <a:spLocks noGrp="1"/>
          </p:cNvSpPr>
          <p:nvPr/>
        </p:nvSpPr>
        <p:spPr>
          <a:xfrm>
            <a:off x="4229100" y="3524250"/>
            <a:ext cx="1200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Organización</a:t>
            </a:r>
          </a:p>
        </p:txBody>
      </p:sp>
      <p:sp>
        <p:nvSpPr>
          <p:cNvPr id="14" name="semana-2">
            <a:extLst>
              <a:ext uri="{FF2B5EF4-FFF2-40B4-BE49-F238E27FC236}">
                <a16:creationId xmlns:a16="http://schemas.microsoft.com/office/drawing/2014/main" id="{E0FDB5B0-0E5B-4822-B26F-EC7F9BE29BF4}"/>
              </a:ext>
            </a:extLst>
          </p:cNvPr>
          <p:cNvSpPr>
            <a:spLocks noGrp="1"/>
          </p:cNvSpPr>
          <p:nvPr/>
        </p:nvSpPr>
        <p:spPr>
          <a:xfrm>
            <a:off x="5829300" y="2228850"/>
            <a:ext cx="704850" cy="704850"/>
          </a:xfrm>
          <a:prstGeom prst="rect">
            <a:avLst/>
          </a:prstGeom>
          <a:solidFill>
            <a:srgbClr val="171717"/>
          </a:solidFill>
          <a:ln w="9525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B03B364-C650-42C6-A3C4-2BBA30BAD4D9}"/>
              </a:ext>
            </a:extLst>
          </p:cNvPr>
          <p:cNvSpPr>
            <a:spLocks noGrp="1"/>
          </p:cNvSpPr>
          <p:nvPr/>
        </p:nvSpPr>
        <p:spPr>
          <a:xfrm>
            <a:off x="5829300" y="2390775"/>
            <a:ext cx="70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S2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22C0897-15F9-4F1A-B726-2B1454E19EE9}"/>
              </a:ext>
            </a:extLst>
          </p:cNvPr>
          <p:cNvSpPr>
            <a:spLocks noGrp="1"/>
          </p:cNvSpPr>
          <p:nvPr/>
        </p:nvSpPr>
        <p:spPr>
          <a:xfrm>
            <a:off x="5619750" y="3181350"/>
            <a:ext cx="1123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Requisitos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630FA49-F18C-4A92-874E-6EA138D01358}"/>
              </a:ext>
            </a:extLst>
          </p:cNvPr>
          <p:cNvSpPr>
            <a:spLocks noGrp="1"/>
          </p:cNvSpPr>
          <p:nvPr/>
        </p:nvSpPr>
        <p:spPr>
          <a:xfrm>
            <a:off x="5581650" y="3524250"/>
            <a:ext cx="1200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Marco teórico</a:t>
            </a:r>
          </a:p>
        </p:txBody>
      </p:sp>
      <p:sp>
        <p:nvSpPr>
          <p:cNvPr id="18" name="semana-3">
            <a:extLst>
              <a:ext uri="{FF2B5EF4-FFF2-40B4-BE49-F238E27FC236}">
                <a16:creationId xmlns:a16="http://schemas.microsoft.com/office/drawing/2014/main" id="{0C29D1B0-9082-491E-958C-59C82B87E6A9}"/>
              </a:ext>
            </a:extLst>
          </p:cNvPr>
          <p:cNvSpPr>
            <a:spLocks noGrp="1"/>
          </p:cNvSpPr>
          <p:nvPr/>
        </p:nvSpPr>
        <p:spPr>
          <a:xfrm>
            <a:off x="7181850" y="2228850"/>
            <a:ext cx="704850" cy="704850"/>
          </a:xfrm>
          <a:prstGeom prst="rect">
            <a:avLst/>
          </a:prstGeom>
          <a:solidFill>
            <a:srgbClr val="D71920"/>
          </a:solidFill>
          <a:ln w="9525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807B1A7-7B1B-4FC7-BF24-02894AF8541E}"/>
              </a:ext>
            </a:extLst>
          </p:cNvPr>
          <p:cNvSpPr>
            <a:spLocks noGrp="1"/>
          </p:cNvSpPr>
          <p:nvPr/>
        </p:nvSpPr>
        <p:spPr>
          <a:xfrm>
            <a:off x="7181850" y="2390775"/>
            <a:ext cx="70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S3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5617CFE-A82E-4AAA-819B-A2AB26A598DC}"/>
              </a:ext>
            </a:extLst>
          </p:cNvPr>
          <p:cNvSpPr>
            <a:spLocks noGrp="1"/>
          </p:cNvSpPr>
          <p:nvPr/>
        </p:nvSpPr>
        <p:spPr>
          <a:xfrm>
            <a:off x="6972300" y="3181350"/>
            <a:ext cx="1123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Entrega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4F4F78B5-0FE8-4D30-9A4B-143A9E6EE0F1}"/>
              </a:ext>
            </a:extLst>
          </p:cNvPr>
          <p:cNvSpPr>
            <a:spLocks noGrp="1"/>
          </p:cNvSpPr>
          <p:nvPr/>
        </p:nvSpPr>
        <p:spPr>
          <a:xfrm>
            <a:off x="6934200" y="3524250"/>
            <a:ext cx="1200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Formulación</a:t>
            </a:r>
          </a:p>
        </p:txBody>
      </p:sp>
      <p:sp>
        <p:nvSpPr>
          <p:cNvPr id="22" name="semana-4">
            <a:extLst>
              <a:ext uri="{FF2B5EF4-FFF2-40B4-BE49-F238E27FC236}">
                <a16:creationId xmlns:a16="http://schemas.microsoft.com/office/drawing/2014/main" id="{2D6B586E-764A-4C0A-B750-6980EA77432D}"/>
              </a:ext>
            </a:extLst>
          </p:cNvPr>
          <p:cNvSpPr>
            <a:spLocks noGrp="1"/>
          </p:cNvSpPr>
          <p:nvPr/>
        </p:nvSpPr>
        <p:spPr>
          <a:xfrm>
            <a:off x="8534400" y="2228850"/>
            <a:ext cx="704850" cy="704850"/>
          </a:xfrm>
          <a:prstGeom prst="rect">
            <a:avLst/>
          </a:prstGeom>
          <a:solidFill>
            <a:srgbClr val="171717"/>
          </a:solidFill>
          <a:ln w="9525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6C52EB3-5218-4B44-914B-164BB8F86F00}"/>
              </a:ext>
            </a:extLst>
          </p:cNvPr>
          <p:cNvSpPr>
            <a:spLocks noGrp="1"/>
          </p:cNvSpPr>
          <p:nvPr/>
        </p:nvSpPr>
        <p:spPr>
          <a:xfrm>
            <a:off x="8534400" y="2390775"/>
            <a:ext cx="70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S4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C394774A-C093-4909-AF74-6D61CD2AFE85}"/>
              </a:ext>
            </a:extLst>
          </p:cNvPr>
          <p:cNvSpPr>
            <a:spLocks noGrp="1"/>
          </p:cNvSpPr>
          <p:nvPr/>
        </p:nvSpPr>
        <p:spPr>
          <a:xfrm>
            <a:off x="8324850" y="3181350"/>
            <a:ext cx="1123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Ajustes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90D5A426-CF14-4902-9D9F-EBFD02196B5A}"/>
              </a:ext>
            </a:extLst>
          </p:cNvPr>
          <p:cNvSpPr>
            <a:spLocks noGrp="1"/>
          </p:cNvSpPr>
          <p:nvPr/>
        </p:nvSpPr>
        <p:spPr>
          <a:xfrm>
            <a:off x="8286750" y="3524250"/>
            <a:ext cx="1200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Revisión</a:t>
            </a:r>
          </a:p>
        </p:txBody>
      </p:sp>
      <p:sp>
        <p:nvSpPr>
          <p:cNvPr id="26" name="semana-5">
            <a:extLst>
              <a:ext uri="{FF2B5EF4-FFF2-40B4-BE49-F238E27FC236}">
                <a16:creationId xmlns:a16="http://schemas.microsoft.com/office/drawing/2014/main" id="{2B1EF74C-8A71-43BD-9693-F4F7B4B0CF2F}"/>
              </a:ext>
            </a:extLst>
          </p:cNvPr>
          <p:cNvSpPr>
            <a:spLocks noGrp="1"/>
          </p:cNvSpPr>
          <p:nvPr/>
        </p:nvSpPr>
        <p:spPr>
          <a:xfrm>
            <a:off x="9886950" y="2228850"/>
            <a:ext cx="704850" cy="704850"/>
          </a:xfrm>
          <a:prstGeom prst="rect">
            <a:avLst/>
          </a:prstGeom>
          <a:solidFill>
            <a:srgbClr val="171717"/>
          </a:solidFill>
          <a:ln w="9525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B62F6E4-A4A9-4F08-B7C7-2DD8E93939B7}"/>
              </a:ext>
            </a:extLst>
          </p:cNvPr>
          <p:cNvSpPr>
            <a:spLocks noGrp="1"/>
          </p:cNvSpPr>
          <p:nvPr/>
        </p:nvSpPr>
        <p:spPr>
          <a:xfrm>
            <a:off x="9886950" y="2390775"/>
            <a:ext cx="70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S5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92A2B95A-3B2C-43D1-BF40-ACD4134901B2}"/>
              </a:ext>
            </a:extLst>
          </p:cNvPr>
          <p:cNvSpPr>
            <a:spLocks noGrp="1"/>
          </p:cNvSpPr>
          <p:nvPr/>
        </p:nvSpPr>
        <p:spPr>
          <a:xfrm>
            <a:off x="9677400" y="3181350"/>
            <a:ext cx="1123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Cierre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AA309149-8B6F-49A0-AB5B-2B750CFDD32D}"/>
              </a:ext>
            </a:extLst>
          </p:cNvPr>
          <p:cNvSpPr>
            <a:spLocks noGrp="1"/>
          </p:cNvSpPr>
          <p:nvPr/>
        </p:nvSpPr>
        <p:spPr>
          <a:xfrm>
            <a:off x="9639300" y="3524250"/>
            <a:ext cx="1200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62626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262"/>
                </a:solidFill>
                <a:latin typeface="Arial"/>
                <a:ea typeface="Arial"/>
                <a:cs typeface="Arial"/>
              </a:rPr>
              <a:t>Entrega de avance</a:t>
            </a:r>
          </a:p>
        </p:txBody>
      </p:sp>
      <p:cxnSp>
        <p:nvCxnSpPr>
          <p:cNvPr id="30" name="Conector recto de flecha 29"/>
          <p:cNvCxnSpPr>
            <a:stCxn id="10" idx="3"/>
            <a:endCxn id="14" idx="1"/>
          </p:cNvCxnSpPr>
          <p:nvPr/>
        </p:nvCxnSpPr>
        <p:spPr>
          <a:xfrm>
            <a:off x="5181600" y="2581275"/>
            <a:ext cx="647700" cy="0"/>
          </a:xfrm>
          <a:prstGeom prst="straightConnector1">
            <a:avLst/>
          </a:prstGeom>
          <a:ln w="19050">
            <a:solidFill>
              <a:srgbClr val="626262"/>
            </a:solidFill>
            <a:prstDash val="solid"/>
            <a:tailEnd type="triangle" w="sm" len="sm"/>
          </a:ln>
        </p:spPr>
      </p:cxnSp>
      <p:cxnSp>
        <p:nvCxnSpPr>
          <p:cNvPr id="31" name="Conector recto de flecha 30"/>
          <p:cNvCxnSpPr>
            <a:stCxn id="14" idx="3"/>
            <a:endCxn id="18" idx="1"/>
          </p:cNvCxnSpPr>
          <p:nvPr/>
        </p:nvCxnSpPr>
        <p:spPr>
          <a:xfrm>
            <a:off x="6534150" y="2581275"/>
            <a:ext cx="647700" cy="0"/>
          </a:xfrm>
          <a:prstGeom prst="straightConnector1">
            <a:avLst/>
          </a:prstGeom>
          <a:ln w="19050">
            <a:solidFill>
              <a:srgbClr val="626262"/>
            </a:solidFill>
            <a:prstDash val="solid"/>
            <a:tailEnd type="triangle" w="sm" len="sm"/>
          </a:ln>
        </p:spPr>
      </p:cxnSp>
      <p:cxnSp>
        <p:nvCxnSpPr>
          <p:cNvPr id="32" name="Conector recto de flecha 31"/>
          <p:cNvCxnSpPr>
            <a:stCxn id="18" idx="3"/>
            <a:endCxn id="22" idx="1"/>
          </p:cNvCxnSpPr>
          <p:nvPr/>
        </p:nvCxnSpPr>
        <p:spPr>
          <a:xfrm>
            <a:off x="7886700" y="2581275"/>
            <a:ext cx="647700" cy="0"/>
          </a:xfrm>
          <a:prstGeom prst="straightConnector1">
            <a:avLst/>
          </a:prstGeom>
          <a:ln w="19050">
            <a:solidFill>
              <a:srgbClr val="626262"/>
            </a:solidFill>
            <a:prstDash val="solid"/>
            <a:tailEnd type="triangle" w="sm" len="sm"/>
          </a:ln>
        </p:spPr>
      </p:cxnSp>
      <p:cxnSp>
        <p:nvCxnSpPr>
          <p:cNvPr id="33" name="Conector recto de flecha 32"/>
          <p:cNvCxnSpPr>
            <a:stCxn id="22" idx="3"/>
            <a:endCxn id="26" idx="1"/>
          </p:cNvCxnSpPr>
          <p:nvPr/>
        </p:nvCxnSpPr>
        <p:spPr>
          <a:xfrm>
            <a:off x="9239250" y="2581275"/>
            <a:ext cx="647700" cy="0"/>
          </a:xfrm>
          <a:prstGeom prst="straightConnector1">
            <a:avLst/>
          </a:prstGeom>
          <a:ln w="19050">
            <a:solidFill>
              <a:srgbClr val="626262"/>
            </a:solidFill>
            <a:prstDash val="solid"/>
            <a:tailEnd type="triangle" w="sm" len="sm"/>
          </a:ln>
        </p:spPr>
      </p:cxnSp>
      <p:sp>
        <p:nvSpPr>
          <p:cNvPr id="34" name="Rectángulo 33">
            <a:extLst>
              <a:ext uri="{FF2B5EF4-FFF2-40B4-BE49-F238E27FC236}">
                <a16:creationId xmlns:a16="http://schemas.microsoft.com/office/drawing/2014/main" id="{B2EED4B7-6D22-45AE-87C1-E3B8A327422D}"/>
              </a:ext>
            </a:extLst>
          </p:cNvPr>
          <p:cNvSpPr>
            <a:spLocks noGrp="1"/>
          </p:cNvSpPr>
          <p:nvPr/>
        </p:nvSpPr>
        <p:spPr>
          <a:xfrm>
            <a:off x="4476750" y="4629150"/>
            <a:ext cx="6115050" cy="3810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B23E1618-F8FD-497A-8E52-AD121C33EA53}"/>
              </a:ext>
            </a:extLst>
          </p:cNvPr>
          <p:cNvSpPr>
            <a:spLocks noGrp="1"/>
          </p:cNvSpPr>
          <p:nvPr/>
        </p:nvSpPr>
        <p:spPr>
          <a:xfrm>
            <a:off x="4476750" y="49149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Criterio de trabajo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732062D-0ACC-4130-81F0-4F3CABD8F76D}"/>
              </a:ext>
            </a:extLst>
          </p:cNvPr>
          <p:cNvSpPr>
            <a:spLocks noGrp="1"/>
          </p:cNvSpPr>
          <p:nvPr/>
        </p:nvSpPr>
        <p:spPr>
          <a:xfrm>
            <a:off x="6438900" y="4857750"/>
            <a:ext cx="4152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833"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Priorización por valor, revisión frecuente y trazabilidad de decisiones.</a:t>
            </a:r>
          </a:p>
        </p:txBody>
      </p:sp>
    </p:spTree>
    <p:extLst>
      <p:ext uri="{BB962C8B-B14F-4D97-AF65-F5344CB8AC3E}">
        <p14:creationId xmlns:p14="http://schemas.microsoft.com/office/powerpoint/2010/main" val="85534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1C1D5F1A-6411-460E-9981-0F1893A9CD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D71920"/>
          </a:solidFill>
          <a:ln w="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14E4AD5-1DE3-4B6A-AA79-6B34D53577BC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CIERRE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010D52B-8A16-4908-8B72-8075A7B408A6}"/>
              </a:ext>
            </a:extLst>
          </p:cNvPr>
          <p:cNvSpPr>
            <a:spLocks noGrp="1"/>
          </p:cNvSpPr>
          <p:nvPr/>
        </p:nvSpPr>
        <p:spPr>
          <a:xfrm>
            <a:off x="666750" y="1314450"/>
            <a:ext cx="723900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 dispersión</a:t>
            </a:r>
          </a:p>
          <a:p>
            <a:pPr algn="l">
              <a:lnSpc>
                <a:spcPct val="90000"/>
              </a:lnSpc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trazabilidad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8A9A7D1-CCBC-4218-8F83-461B917A231F}"/>
              </a:ext>
            </a:extLst>
          </p:cNvPr>
          <p:cNvSpPr>
            <a:spLocks noGrp="1"/>
          </p:cNvSpPr>
          <p:nvPr/>
        </p:nvSpPr>
        <p:spPr>
          <a:xfrm>
            <a:off x="666750" y="3048000"/>
            <a:ext cx="7239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 SGSI propuesto alinea problema, solución y arquitectura en una plataforma única para decidir y cumplir.</a:t>
            </a:r>
          </a:p>
        </p:txBody>
      </p:sp>
      <p:sp>
        <p:nvSpPr>
          <p:cNvPr id="5" name="Conector recto 4">
            <a:extLst>
              <a:ext uri="{FF2B5EF4-FFF2-40B4-BE49-F238E27FC236}">
                <a16:creationId xmlns:a16="http://schemas.microsoft.com/office/drawing/2014/main" id="{EE3BEDED-572E-44C6-B044-7A23F7D73C66}"/>
              </a:ext>
            </a:extLst>
          </p:cNvPr>
          <p:cNvSpPr>
            <a:spLocks noGrp="1"/>
          </p:cNvSpPr>
          <p:nvPr/>
        </p:nvSpPr>
        <p:spPr>
          <a:xfrm>
            <a:off x="666750" y="4324350"/>
            <a:ext cx="10572750" cy="0"/>
          </a:xfrm>
          <a:prstGeom prst="line">
            <a:avLst/>
          </a:prstGeom>
          <a:noFill/>
          <a:ln w="381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1664B09-DC56-4508-8A3C-D90C4FB1AF46}"/>
              </a:ext>
            </a:extLst>
          </p:cNvPr>
          <p:cNvSpPr>
            <a:spLocks noGrp="1"/>
          </p:cNvSpPr>
          <p:nvPr/>
        </p:nvSpPr>
        <p:spPr>
          <a:xfrm>
            <a:off x="666750" y="464820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CDFD0F0-E2B1-4865-91DE-48AF7C5E02C8}"/>
              </a:ext>
            </a:extLst>
          </p:cNvPr>
          <p:cNvSpPr>
            <a:spLocks noGrp="1"/>
          </p:cNvSpPr>
          <p:nvPr/>
        </p:nvSpPr>
        <p:spPr>
          <a:xfrm>
            <a:off x="666750" y="50101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MEDIR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402B58A-5C2F-4633-8EB9-9E31A71FDB52}"/>
              </a:ext>
            </a:extLst>
          </p:cNvPr>
          <p:cNvSpPr>
            <a:spLocks noGrp="1"/>
          </p:cNvSpPr>
          <p:nvPr/>
        </p:nvSpPr>
        <p:spPr>
          <a:xfrm>
            <a:off x="666750" y="5353050"/>
            <a:ext cx="3000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E5E2D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5E2DE"/>
                </a:solidFill>
                <a:latin typeface="Arial"/>
                <a:ea typeface="Arial"/>
                <a:cs typeface="Arial"/>
              </a:rPr>
              <a:t>Madurez por dominio y global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CDD55F2-9991-434E-8287-ACA3B9A412B3}"/>
              </a:ext>
            </a:extLst>
          </p:cNvPr>
          <p:cNvSpPr>
            <a:spLocks noGrp="1"/>
          </p:cNvSpPr>
          <p:nvPr/>
        </p:nvSpPr>
        <p:spPr>
          <a:xfrm>
            <a:off x="4210050" y="464820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FE04A76-1DCC-4283-93BC-77DF42A7C5B0}"/>
              </a:ext>
            </a:extLst>
          </p:cNvPr>
          <p:cNvSpPr>
            <a:spLocks noGrp="1"/>
          </p:cNvSpPr>
          <p:nvPr/>
        </p:nvSpPr>
        <p:spPr>
          <a:xfrm>
            <a:off x="4210050" y="50101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REACCIONAR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7F6D7ED-618B-43F3-90C4-B01029D93DA9}"/>
              </a:ext>
            </a:extLst>
          </p:cNvPr>
          <p:cNvSpPr>
            <a:spLocks noGrp="1"/>
          </p:cNvSpPr>
          <p:nvPr/>
        </p:nvSpPr>
        <p:spPr>
          <a:xfrm>
            <a:off x="4210050" y="5353050"/>
            <a:ext cx="3000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E5E2D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5E2DE"/>
                </a:solidFill>
                <a:latin typeface="Arial"/>
                <a:ea typeface="Arial"/>
                <a:cs typeface="Arial"/>
              </a:rPr>
              <a:t>Incidentes y plazos legales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E5A8480-DA75-46E8-B200-F42C68158387}"/>
              </a:ext>
            </a:extLst>
          </p:cNvPr>
          <p:cNvSpPr>
            <a:spLocks noGrp="1"/>
          </p:cNvSpPr>
          <p:nvPr/>
        </p:nvSpPr>
        <p:spPr>
          <a:xfrm>
            <a:off x="7753350" y="464820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0E772D0-05A2-4082-BCB5-6632E461CF40}"/>
              </a:ext>
            </a:extLst>
          </p:cNvPr>
          <p:cNvSpPr>
            <a:spLocks noGrp="1"/>
          </p:cNvSpPr>
          <p:nvPr/>
        </p:nvSpPr>
        <p:spPr>
          <a:xfrm>
            <a:off x="7753350" y="50101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DEMOSTRAR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655C8AF-890D-4140-86F8-FB5573500DE9}"/>
              </a:ext>
            </a:extLst>
          </p:cNvPr>
          <p:cNvSpPr>
            <a:spLocks noGrp="1"/>
          </p:cNvSpPr>
          <p:nvPr/>
        </p:nvSpPr>
        <p:spPr>
          <a:xfrm>
            <a:off x="7753350" y="5353050"/>
            <a:ext cx="3000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E5E2D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5E2DE"/>
                </a:solidFill>
                <a:latin typeface="Arial"/>
                <a:ea typeface="Arial"/>
                <a:cs typeface="Arial"/>
              </a:rPr>
              <a:t>Evidencia auditable y reportes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461495A-F41F-4C27-B69F-C08B4F340429}"/>
              </a:ext>
            </a:extLst>
          </p:cNvPr>
          <p:cNvSpPr>
            <a:spLocks noGrp="1"/>
          </p:cNvSpPr>
          <p:nvPr/>
        </p:nvSpPr>
        <p:spPr>
          <a:xfrm>
            <a:off x="10991850" y="63817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825" b="1">
                <a:solidFill>
                  <a:srgbClr val="D719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7192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4747657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951</Words>
  <Application>Microsoft Macintosh PowerPoint</Application>
  <PresentationFormat>Panorámica</PresentationFormat>
  <Paragraphs>211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4" baseType="lpstr">
      <vt:lpstr>Arial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Nahum Andrés Sánchez Aedo</dc:creator>
  <cp:lastModifiedBy>Nahum Andrés Sánchez Aedo</cp:lastModifiedBy>
  <cp:revision>1</cp:revision>
  <dcterms:created xsi:type="dcterms:W3CDTF">2026-09-05T19:44:37Z</dcterms:created>
  <dcterms:modified xsi:type="dcterms:W3CDTF">2026-09-05T20:04:04Z</dcterms:modified>
</cp:coreProperties>
</file>